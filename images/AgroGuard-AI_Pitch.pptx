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5"/>
    </p:embeddedFont>
    <p:embeddedFont>
      <p:font typeface="Cambria Bold" charset="1" panose="02040803050406030204"/>
      <p:regular r:id="rId26"/>
    </p:embeddedFont>
    <p:embeddedFont>
      <p:font typeface="Calibri (MS) Italics" charset="1" panose="020F05020202040A0204"/>
      <p:regular r:id="rId27"/>
    </p:embeddedFont>
    <p:embeddedFont>
      <p:font typeface="Calibri (MS)" charset="1" panose="020F050202020403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5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6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25.jpeg" Type="http://schemas.openxmlformats.org/officeDocument/2006/relationships/image"/><Relationship Id="rId5" Target="../media/image2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27.jpeg" Type="http://schemas.openxmlformats.org/officeDocument/2006/relationships/image"/><Relationship Id="rId5" Target="../media/image28.jpeg" Type="http://schemas.openxmlformats.org/officeDocument/2006/relationships/image"/><Relationship Id="rId6" Target="../media/image29.jpeg" Type="http://schemas.openxmlformats.org/officeDocument/2006/relationships/image"/><Relationship Id="rId7" Target="../media/image3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Relationship Id="rId6" Target="../media/image33.jpeg" Type="http://schemas.openxmlformats.org/officeDocument/2006/relationships/image"/><Relationship Id="rId7" Target="../media/image3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Relationship Id="rId4" Target="../media/image35.jpeg" Type="http://schemas.openxmlformats.org/officeDocument/2006/relationships/image"/><Relationship Id="rId5" Target="../media/image36.jpeg" Type="http://schemas.openxmlformats.org/officeDocument/2006/relationships/image"/><Relationship Id="rId6" Target="../media/image3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38.jpeg" Type="http://schemas.openxmlformats.org/officeDocument/2006/relationships/image"/><Relationship Id="rId5" Target="../media/image39.jpeg" Type="http://schemas.openxmlformats.org/officeDocument/2006/relationships/image"/><Relationship Id="rId6" Target="../media/image40.jpeg" Type="http://schemas.openxmlformats.org/officeDocument/2006/relationships/image"/><Relationship Id="rId7" Target="../media/image4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6858000" cy="6858000"/>
            <a:chOff x="0" y="0"/>
            <a:chExt cx="9144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9144000">
                  <a:moveTo>
                    <a:pt x="0" y="4572000"/>
                  </a:moveTo>
                  <a:cubicBezTo>
                    <a:pt x="0" y="2046986"/>
                    <a:pt x="2046986" y="0"/>
                    <a:pt x="4572000" y="0"/>
                  </a:cubicBezTo>
                  <a:cubicBezTo>
                    <a:pt x="7097014" y="0"/>
                    <a:pt x="9144000" y="2046986"/>
                    <a:pt x="9144000" y="4572000"/>
                  </a:cubicBezTo>
                  <a:cubicBezTo>
                    <a:pt x="9144000" y="7097014"/>
                    <a:pt x="7097014" y="9144000"/>
                    <a:pt x="4572000" y="9144000"/>
                  </a:cubicBezTo>
                  <a:cubicBezTo>
                    <a:pt x="2046986" y="9144000"/>
                    <a:pt x="0" y="7097014"/>
                    <a:pt x="0" y="4572000"/>
                  </a:cubicBezTo>
                  <a:close/>
                </a:path>
              </a:pathLst>
            </a:custGeom>
            <a:solidFill>
              <a:srgbClr val="092E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10560" y="6309360"/>
            <a:ext cx="4389120" cy="4389120"/>
            <a:chOff x="0" y="0"/>
            <a:chExt cx="5852160" cy="5852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092E1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41980" y="-205740"/>
            <a:ext cx="1783080" cy="1783080"/>
            <a:chOff x="0" y="0"/>
            <a:chExt cx="237744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7744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377440">
                  <a:moveTo>
                    <a:pt x="0" y="1188720"/>
                  </a:moveTo>
                  <a:cubicBezTo>
                    <a:pt x="0" y="532257"/>
                    <a:pt x="532257" y="0"/>
                    <a:pt x="1188720" y="0"/>
                  </a:cubicBezTo>
                  <a:cubicBezTo>
                    <a:pt x="1845183" y="0"/>
                    <a:pt x="2377440" y="532257"/>
                    <a:pt x="2377440" y="1188720"/>
                  </a:cubicBezTo>
                  <a:cubicBezTo>
                    <a:pt x="2377440" y="1845183"/>
                    <a:pt x="1845183" y="2377440"/>
                    <a:pt x="1188720" y="2377440"/>
                  </a:cubicBezTo>
                  <a:cubicBezTo>
                    <a:pt x="532257" y="2377440"/>
                    <a:pt x="0" y="1845183"/>
                    <a:pt x="0" y="1188720"/>
                  </a:cubicBezTo>
                  <a:close/>
                </a:path>
              </a:pathLst>
            </a:custGeom>
            <a:solidFill>
              <a:srgbClr val="5C8A3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253460" y="205740"/>
            <a:ext cx="960120" cy="960120"/>
            <a:chOff x="0" y="0"/>
            <a:chExt cx="1280160" cy="1280160"/>
          </a:xfrm>
        </p:grpSpPr>
        <p:sp>
          <p:nvSpPr>
            <p:cNvPr name="Freeform 9" id="9" descr="/home/claude/agroguard/icons/leaf.png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811780"/>
            <a:ext cx="13716000" cy="548640"/>
            <a:chOff x="0" y="0"/>
            <a:chExt cx="18288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REGIONAL CROP DISEASE EARLY-WARNING SYSTEM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91540" y="3429000"/>
            <a:ext cx="15087600" cy="1920240"/>
            <a:chOff x="0" y="0"/>
            <a:chExt cx="20116800" cy="25603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116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096" r="0" b="-10309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0116800" cy="2579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AgroGuard-AI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5280660"/>
            <a:ext cx="12893040" cy="1097280"/>
            <a:chOff x="0" y="0"/>
            <a:chExt cx="17190720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1907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71907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i="true">
                  <a:solidFill>
                    <a:srgbClr val="D8E4C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Diagnose sick plants from a photo, advise farmers in their language, and stop outbreaks spreading.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29580">
            <a:off x="940984" y="6642735"/>
            <a:ext cx="4427382" cy="0"/>
          </a:xfrm>
          <a:prstGeom prst="line">
            <a:avLst/>
          </a:prstGeom>
          <a:ln cap="rnd" w="19050">
            <a:solidFill>
              <a:srgbClr val="5C8A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60120" y="6858000"/>
            <a:ext cx="10972800" cy="480060"/>
            <a:chOff x="0" y="0"/>
            <a:chExt cx="146304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46304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4A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National Artificial Intelligence Competition  ·  Crop Protection Track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9326880"/>
            <a:ext cx="10972800" cy="480060"/>
            <a:chOff x="0" y="0"/>
            <a:chExt cx="1463040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46304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8FA6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CodeArena'26  ·  WeCodeX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A8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WHY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9189720" cy="1783080"/>
            <a:chOff x="0" y="0"/>
            <a:chExt cx="12252960" cy="2377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529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22" r="0" b="-5042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252960" cy="2396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Farmers wait days while disease spreads unseen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3154680"/>
            <a:ext cx="9052560" cy="2606040"/>
            <a:chOff x="0" y="0"/>
            <a:chExt cx="12070080" cy="347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0700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84" r="0" b="-176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12070080" cy="3589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3375"/>
                </a:lnSpc>
              </a:pPr>
              <a:r>
                <a:rPr lang="en-US" sz="2250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Farmers can wait days for an agriculture officer, and by then a disease may have already spread across the field and into neighbouring farms. Officers have no visibility into where an outbreak is starting until it is too late — and by that point, containment is much harder and far more costly.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6172200"/>
            <a:ext cx="9052560" cy="1371600"/>
            <a:chOff x="0" y="0"/>
            <a:chExt cx="12070080" cy="1828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0700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601" r="0" b="-786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07008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C8A3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AgroGuard-AI closes that gap: diagnosis in seconds, advice in the farmer's own language, and regional visibility before an outbreak takes hold.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61320" y="1440180"/>
            <a:ext cx="6858000" cy="2125980"/>
            <a:chOff x="0" y="0"/>
            <a:chExt cx="9144000" cy="2834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2688336"/>
                  </a:lnTo>
                  <a:cubicBezTo>
                    <a:pt x="9144000" y="2769108"/>
                    <a:pt x="9078468" y="2834640"/>
                    <a:pt x="8997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04220" y="1879092"/>
            <a:ext cx="1234440" cy="1234440"/>
            <a:chOff x="0" y="0"/>
            <a:chExt cx="1645920" cy="16459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205972" y="2180844"/>
            <a:ext cx="630936" cy="630936"/>
            <a:chOff x="0" y="0"/>
            <a:chExt cx="841248" cy="841248"/>
          </a:xfrm>
        </p:grpSpPr>
        <p:sp>
          <p:nvSpPr>
            <p:cNvPr name="Freeform 19" id="19" descr="/home/claude/agroguard/icons/alert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412980" y="1714500"/>
            <a:ext cx="4663440" cy="548640"/>
            <a:chOff x="0" y="0"/>
            <a:chExt cx="62179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62179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Delayed response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412980" y="2290572"/>
            <a:ext cx="4663440" cy="1097280"/>
            <a:chOff x="0" y="0"/>
            <a:chExt cx="6217920" cy="146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62179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the time an officer arrives on-site, disease has already spread.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561320" y="3881628"/>
            <a:ext cx="6858000" cy="2125980"/>
            <a:chOff x="0" y="0"/>
            <a:chExt cx="9144000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2688336"/>
                  </a:lnTo>
                  <a:cubicBezTo>
                    <a:pt x="9144000" y="2769108"/>
                    <a:pt x="9078468" y="2834640"/>
                    <a:pt x="8997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04220" y="4320540"/>
            <a:ext cx="1234440" cy="1234440"/>
            <a:chOff x="0" y="0"/>
            <a:chExt cx="1645920" cy="1645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205972" y="4622292"/>
            <a:ext cx="630936" cy="630936"/>
            <a:chOff x="0" y="0"/>
            <a:chExt cx="841248" cy="841248"/>
          </a:xfrm>
        </p:grpSpPr>
        <p:sp>
          <p:nvSpPr>
            <p:cNvPr name="Freeform 31" id="31" descr="/home/claude/agroguard/icons/network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412980" y="4155948"/>
            <a:ext cx="4663440" cy="548640"/>
            <a:chOff x="0" y="0"/>
            <a:chExt cx="621792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62179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regional visibility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412980" y="4732020"/>
            <a:ext cx="4663440" cy="1097280"/>
            <a:chOff x="0" y="0"/>
            <a:chExt cx="6217920" cy="1463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62179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Outbreaks aren't visible to officers until multiple farms are affected.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61320" y="6323076"/>
            <a:ext cx="6858000" cy="2125980"/>
            <a:chOff x="0" y="0"/>
            <a:chExt cx="9144000" cy="2834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1440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97696" y="0"/>
                  </a:lnTo>
                  <a:cubicBezTo>
                    <a:pt x="9078468" y="0"/>
                    <a:pt x="9144000" y="65532"/>
                    <a:pt x="9144000" y="146304"/>
                  </a:cubicBezTo>
                  <a:lnTo>
                    <a:pt x="9144000" y="2688336"/>
                  </a:lnTo>
                  <a:cubicBezTo>
                    <a:pt x="9144000" y="2769108"/>
                    <a:pt x="9078468" y="2834640"/>
                    <a:pt x="899769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904220" y="6761988"/>
            <a:ext cx="1234440" cy="1234440"/>
            <a:chOff x="0" y="0"/>
            <a:chExt cx="164592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205972" y="7063740"/>
            <a:ext cx="630936" cy="630936"/>
            <a:chOff x="0" y="0"/>
            <a:chExt cx="841248" cy="841248"/>
          </a:xfrm>
        </p:grpSpPr>
        <p:sp>
          <p:nvSpPr>
            <p:cNvPr name="Freeform 43" id="43" descr="/home/claude/agroguard/icons/language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412980" y="6597396"/>
            <a:ext cx="4663440" cy="548640"/>
            <a:chOff x="0" y="0"/>
            <a:chExt cx="62179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62179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 barriers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412980" y="7173468"/>
            <a:ext cx="4663440" cy="1097280"/>
            <a:chOff x="0" y="0"/>
            <a:chExt cx="6217920" cy="1463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62179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80"/>
                </a:lnSpc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Generic advice rarely reaches farmers in the language they work in.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A8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WHY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5773400" cy="1234440"/>
            <a:chOff x="0" y="0"/>
            <a:chExt cx="210312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03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0312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Four roles, one shared risk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5087600" cy="685800"/>
            <a:chOff x="0" y="0"/>
            <a:chExt cx="2011680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68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16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actor in the containment loop has a distinct job — the platform is built around all four, not just the farmer.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429000"/>
            <a:ext cx="8023860" cy="2674620"/>
            <a:chOff x="0" y="0"/>
            <a:chExt cx="10698480" cy="3566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34440" y="3867912"/>
            <a:ext cx="1371600" cy="1371600"/>
            <a:chOff x="0" y="0"/>
            <a:chExt cx="18288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63624" y="4197096"/>
            <a:ext cx="713232" cy="713232"/>
            <a:chOff x="0" y="0"/>
            <a:chExt cx="950976" cy="950976"/>
          </a:xfrm>
        </p:grpSpPr>
        <p:sp>
          <p:nvSpPr>
            <p:cNvPr name="Freeform 16" id="16" descr="/home/claude/agroguard/icons/seedling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880360" y="3771900"/>
            <a:ext cx="5692140" cy="548640"/>
            <a:chOff x="0" y="0"/>
            <a:chExt cx="758952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8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58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Farmer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80360" y="4389120"/>
            <a:ext cx="5692140" cy="1508760"/>
            <a:chOff x="0" y="0"/>
            <a:chExt cx="7589520" cy="2011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89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758952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Uploads leaf photos and receives multilingual diagnosis and treatment advice.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26880" y="3429000"/>
            <a:ext cx="8023860" cy="2674620"/>
            <a:chOff x="0" y="0"/>
            <a:chExt cx="10698480" cy="3566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738360" y="3867912"/>
            <a:ext cx="1371600" cy="1371600"/>
            <a:chOff x="0" y="0"/>
            <a:chExt cx="182880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5C8A3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067544" y="4197096"/>
            <a:ext cx="713232" cy="713232"/>
            <a:chOff x="0" y="0"/>
            <a:chExt cx="950976" cy="950976"/>
          </a:xfrm>
        </p:grpSpPr>
        <p:sp>
          <p:nvSpPr>
            <p:cNvPr name="Freeform 28" id="28" descr="/home/claude/agroguard/icons/clipboard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384280" y="3771900"/>
            <a:ext cx="5692140" cy="548640"/>
            <a:chOff x="0" y="0"/>
            <a:chExt cx="75895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58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58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Agriculture Officer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384280" y="4389120"/>
            <a:ext cx="5692140" cy="1508760"/>
            <a:chOff x="0" y="0"/>
            <a:chExt cx="7589520" cy="20116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89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85725"/>
              <a:ext cx="758952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Reviews escalated cases, schedules and records field visits.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22960" y="6583680"/>
            <a:ext cx="8023860" cy="2674620"/>
            <a:chOff x="0" y="0"/>
            <a:chExt cx="10698480" cy="3566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34440" y="7022592"/>
            <a:ext cx="1371600" cy="1371600"/>
            <a:chOff x="0" y="0"/>
            <a:chExt cx="1828800" cy="1828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563624" y="7351776"/>
            <a:ext cx="713232" cy="713232"/>
            <a:chOff x="0" y="0"/>
            <a:chExt cx="950976" cy="950976"/>
          </a:xfrm>
        </p:grpSpPr>
        <p:sp>
          <p:nvSpPr>
            <p:cNvPr name="Freeform 40" id="40" descr="/home/claude/agroguard/icons/microscope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880360" y="6926580"/>
            <a:ext cx="5692140" cy="548640"/>
            <a:chOff x="0" y="0"/>
            <a:chExt cx="7589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58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58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Lab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880360" y="7543800"/>
            <a:ext cx="5692140" cy="1508760"/>
            <a:chOff x="0" y="0"/>
            <a:chExt cx="7589520" cy="20116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89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758952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Tests samples of new or unclear diseases and exports surveillance data.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326880" y="6583680"/>
            <a:ext cx="8023860" cy="2674620"/>
            <a:chOff x="0" y="0"/>
            <a:chExt cx="10698480" cy="3566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738360" y="7022592"/>
            <a:ext cx="1371600" cy="1371600"/>
            <a:chOff x="0" y="0"/>
            <a:chExt cx="1828800" cy="1828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A83A2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067544" y="7351776"/>
            <a:ext cx="713232" cy="713232"/>
            <a:chOff x="0" y="0"/>
            <a:chExt cx="950976" cy="950976"/>
          </a:xfrm>
        </p:grpSpPr>
        <p:sp>
          <p:nvSpPr>
            <p:cNvPr name="Freeform 52" id="52" descr="/home/claude/agroguard/icons/admin.png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384280" y="6926580"/>
            <a:ext cx="5692140" cy="548640"/>
            <a:chOff x="0" y="0"/>
            <a:chExt cx="758952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8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157" r="0" b="-15215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7589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Admin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384280" y="7543800"/>
            <a:ext cx="5692140" cy="1508760"/>
            <a:chOff x="0" y="0"/>
            <a:chExt cx="7589520" cy="20116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895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11" r="0" b="-2351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85725"/>
              <a:ext cx="7589520" cy="2097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Confirms outbreak declarations and improves the diagnostic model.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WHAT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closed loop from photo to containment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06040"/>
            <a:ext cx="5143500" cy="2468880"/>
            <a:chOff x="0" y="0"/>
            <a:chExt cx="6858000" cy="3291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5800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98361" y="0"/>
                  </a:lnTo>
                  <a:cubicBezTo>
                    <a:pt x="6786499" y="0"/>
                    <a:pt x="6858000" y="71501"/>
                    <a:pt x="6858000" y="159639"/>
                  </a:cubicBezTo>
                  <a:lnTo>
                    <a:pt x="6858000" y="3132201"/>
                  </a:lnTo>
                  <a:cubicBezTo>
                    <a:pt x="6858000" y="3220339"/>
                    <a:pt x="6786499" y="3291840"/>
                    <a:pt x="6698361" y="3291840"/>
                  </a:cubicBezTo>
                  <a:lnTo>
                    <a:pt x="159639" y="3291840"/>
                  </a:lnTo>
                  <a:cubicBezTo>
                    <a:pt x="71501" y="3291840"/>
                    <a:pt x="0" y="3220339"/>
                    <a:pt x="0" y="3132201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9489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5316" y="3168396"/>
            <a:ext cx="521208" cy="521208"/>
            <a:chOff x="0" y="0"/>
            <a:chExt cx="694944" cy="694944"/>
          </a:xfrm>
        </p:grpSpPr>
        <p:sp>
          <p:nvSpPr>
            <p:cNvPr name="Freeform 13" id="13" descr="/home/claude/agroguard/icons/seedling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4005072"/>
            <a:ext cx="4457700" cy="480060"/>
            <a:chOff x="0" y="0"/>
            <a:chExt cx="59436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94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foliar diagnosis &amp; severity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5860" y="4416552"/>
            <a:ext cx="4457700" cy="685800"/>
            <a:chOff x="0" y="0"/>
            <a:chExt cx="59436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Vision-based disease ID with low / medium / high / critical severity and yield impact.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68212" y="2606040"/>
            <a:ext cx="5143500" cy="2468880"/>
            <a:chOff x="0" y="0"/>
            <a:chExt cx="6858000" cy="3291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5800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98361" y="0"/>
                  </a:lnTo>
                  <a:cubicBezTo>
                    <a:pt x="6786499" y="0"/>
                    <a:pt x="6858000" y="71501"/>
                    <a:pt x="6858000" y="159639"/>
                  </a:cubicBezTo>
                  <a:lnTo>
                    <a:pt x="6858000" y="3132201"/>
                  </a:lnTo>
                  <a:cubicBezTo>
                    <a:pt x="6858000" y="3220339"/>
                    <a:pt x="6786499" y="3291840"/>
                    <a:pt x="6698361" y="3291840"/>
                  </a:cubicBezTo>
                  <a:lnTo>
                    <a:pt x="159639" y="3291840"/>
                  </a:lnTo>
                  <a:cubicBezTo>
                    <a:pt x="71501" y="3291840"/>
                    <a:pt x="0" y="3220339"/>
                    <a:pt x="0" y="3132201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11112" y="2948940"/>
            <a:ext cx="960120" cy="960120"/>
            <a:chOff x="0" y="0"/>
            <a:chExt cx="1280160" cy="1280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830568" y="3168396"/>
            <a:ext cx="521208" cy="521208"/>
            <a:chOff x="0" y="0"/>
            <a:chExt cx="694944" cy="694944"/>
          </a:xfrm>
        </p:grpSpPr>
        <p:sp>
          <p:nvSpPr>
            <p:cNvPr name="Freeform 25" id="25" descr="/home/claude/agroguard/icons/language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611112" y="4005072"/>
            <a:ext cx="4457700" cy="480060"/>
            <a:chOff x="0" y="0"/>
            <a:chExt cx="594360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94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Multilingual advisories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611112" y="4416552"/>
            <a:ext cx="4457700" cy="685800"/>
            <a:chOff x="0" y="0"/>
            <a:chExt cx="59436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Diagnosis and treatment guidance in English, Sinhala, and Tamil.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713464" y="2606040"/>
            <a:ext cx="5143500" cy="2468880"/>
            <a:chOff x="0" y="0"/>
            <a:chExt cx="6858000" cy="3291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58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5800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98361" y="0"/>
                  </a:lnTo>
                  <a:cubicBezTo>
                    <a:pt x="6786499" y="0"/>
                    <a:pt x="6858000" y="71501"/>
                    <a:pt x="6858000" y="159639"/>
                  </a:cubicBezTo>
                  <a:lnTo>
                    <a:pt x="6858000" y="3132201"/>
                  </a:lnTo>
                  <a:cubicBezTo>
                    <a:pt x="6858000" y="3220339"/>
                    <a:pt x="6786499" y="3291840"/>
                    <a:pt x="6698361" y="3291840"/>
                  </a:cubicBezTo>
                  <a:lnTo>
                    <a:pt x="159639" y="3291840"/>
                  </a:lnTo>
                  <a:cubicBezTo>
                    <a:pt x="71501" y="3291840"/>
                    <a:pt x="0" y="3220339"/>
                    <a:pt x="0" y="3132201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056364" y="294894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75820" y="3168396"/>
            <a:ext cx="521208" cy="521208"/>
            <a:chOff x="0" y="0"/>
            <a:chExt cx="694944" cy="694944"/>
          </a:xfrm>
        </p:grpSpPr>
        <p:sp>
          <p:nvSpPr>
            <p:cNvPr name="Freeform 37" id="37" descr="/home/claude/agroguard/icons/weather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056364" y="4005072"/>
            <a:ext cx="4457700" cy="480060"/>
            <a:chOff x="0" y="0"/>
            <a:chExt cx="594360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94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micro-climate telemetry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056364" y="4416552"/>
            <a:ext cx="4457700" cy="685800"/>
            <a:chOff x="0" y="0"/>
            <a:chExt cx="59436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Temperature, humidity, wind, rainfall and leaf-wetness pulled per farm GPS.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22960" y="5373310"/>
            <a:ext cx="5143500" cy="2468880"/>
            <a:chOff x="0" y="0"/>
            <a:chExt cx="6858000" cy="32918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58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5800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98361" y="0"/>
                  </a:lnTo>
                  <a:cubicBezTo>
                    <a:pt x="6786499" y="0"/>
                    <a:pt x="6858000" y="71501"/>
                    <a:pt x="6858000" y="159639"/>
                  </a:cubicBezTo>
                  <a:lnTo>
                    <a:pt x="6858000" y="3132201"/>
                  </a:lnTo>
                  <a:cubicBezTo>
                    <a:pt x="6858000" y="3220339"/>
                    <a:pt x="6786499" y="3291840"/>
                    <a:pt x="6698361" y="3291840"/>
                  </a:cubicBezTo>
                  <a:lnTo>
                    <a:pt x="159639" y="3291840"/>
                  </a:lnTo>
                  <a:cubicBezTo>
                    <a:pt x="71501" y="3291840"/>
                    <a:pt x="0" y="3220339"/>
                    <a:pt x="0" y="3132201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5860" y="5716210"/>
            <a:ext cx="960120" cy="960120"/>
            <a:chOff x="0" y="0"/>
            <a:chExt cx="128016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85316" y="5935666"/>
            <a:ext cx="521208" cy="521208"/>
            <a:chOff x="0" y="0"/>
            <a:chExt cx="694944" cy="694944"/>
          </a:xfrm>
        </p:grpSpPr>
        <p:sp>
          <p:nvSpPr>
            <p:cNvPr name="Freeform 49" id="49" descr="/home/claude/agroguard/icons/risk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6772342"/>
            <a:ext cx="4457700" cy="480060"/>
            <a:chOff x="0" y="0"/>
            <a:chExt cx="594360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94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Deterministic risk engine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65860" y="7183822"/>
            <a:ext cx="4457700" cy="685800"/>
            <a:chOff x="0" y="0"/>
            <a:chExt cx="59436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Explainable 0–100 spread-risk index — no black-box confidence.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268212" y="5373310"/>
            <a:ext cx="5143500" cy="2468880"/>
            <a:chOff x="0" y="0"/>
            <a:chExt cx="6858000" cy="32918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58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5800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98361" y="0"/>
                  </a:lnTo>
                  <a:cubicBezTo>
                    <a:pt x="6786499" y="0"/>
                    <a:pt x="6858000" y="71501"/>
                    <a:pt x="6858000" y="159639"/>
                  </a:cubicBezTo>
                  <a:lnTo>
                    <a:pt x="6858000" y="3132201"/>
                  </a:lnTo>
                  <a:cubicBezTo>
                    <a:pt x="6858000" y="3220339"/>
                    <a:pt x="6786499" y="3291840"/>
                    <a:pt x="6698361" y="3291840"/>
                  </a:cubicBezTo>
                  <a:lnTo>
                    <a:pt x="159639" y="3291840"/>
                  </a:lnTo>
                  <a:cubicBezTo>
                    <a:pt x="71501" y="3291840"/>
                    <a:pt x="0" y="3220339"/>
                    <a:pt x="0" y="3132201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611112" y="5716210"/>
            <a:ext cx="960120" cy="960120"/>
            <a:chOff x="0" y="0"/>
            <a:chExt cx="128016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830568" y="5935666"/>
            <a:ext cx="521208" cy="521208"/>
            <a:chOff x="0" y="0"/>
            <a:chExt cx="694944" cy="694944"/>
          </a:xfrm>
        </p:grpSpPr>
        <p:sp>
          <p:nvSpPr>
            <p:cNvPr name="Freeform 61" id="61" descr="/home/claude/agroguard/icons/map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611112" y="6772342"/>
            <a:ext cx="4457700" cy="480060"/>
            <a:chOff x="0" y="0"/>
            <a:chExt cx="59436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94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Outbreak clustering &amp; map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611112" y="7183822"/>
            <a:ext cx="4457700" cy="685800"/>
            <a:chOff x="0" y="0"/>
            <a:chExt cx="5943600" cy="914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Haversine clustering surfaces active clusters on a live regional map.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713464" y="5373310"/>
            <a:ext cx="5143500" cy="2468880"/>
            <a:chOff x="0" y="0"/>
            <a:chExt cx="6858000" cy="3291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580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6858000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6698361" y="0"/>
                  </a:lnTo>
                  <a:cubicBezTo>
                    <a:pt x="6786499" y="0"/>
                    <a:pt x="6858000" y="71501"/>
                    <a:pt x="6858000" y="159639"/>
                  </a:cubicBezTo>
                  <a:lnTo>
                    <a:pt x="6858000" y="3132201"/>
                  </a:lnTo>
                  <a:cubicBezTo>
                    <a:pt x="6858000" y="3220339"/>
                    <a:pt x="6786499" y="3291840"/>
                    <a:pt x="6698361" y="3291840"/>
                  </a:cubicBezTo>
                  <a:lnTo>
                    <a:pt x="159639" y="3291840"/>
                  </a:lnTo>
                  <a:cubicBezTo>
                    <a:pt x="71501" y="3291840"/>
                    <a:pt x="0" y="3220339"/>
                    <a:pt x="0" y="3132201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056364" y="5716210"/>
            <a:ext cx="960120" cy="960120"/>
            <a:chOff x="0" y="0"/>
            <a:chExt cx="1280160" cy="12801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275820" y="5935666"/>
            <a:ext cx="521208" cy="521208"/>
            <a:chOff x="0" y="0"/>
            <a:chExt cx="694944" cy="694944"/>
          </a:xfrm>
        </p:grpSpPr>
        <p:sp>
          <p:nvSpPr>
            <p:cNvPr name="Freeform 73" id="73" descr="/home/claude/agroguard/icons/bell.png"/>
            <p:cNvSpPr/>
            <p:nvPr/>
          </p:nvSpPr>
          <p:spPr>
            <a:xfrm flipH="false" flipV="false" rot="0">
              <a:off x="0" y="0"/>
              <a:ext cx="694944" cy="694944"/>
            </a:xfrm>
            <a:custGeom>
              <a:avLst/>
              <a:gdLst/>
              <a:ahLst/>
              <a:cxnLst/>
              <a:rect r="r" b="b" t="t" l="l"/>
              <a:pathLst>
                <a:path h="694944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694944"/>
                  </a:lnTo>
                  <a:lnTo>
                    <a:pt x="0" y="694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056364" y="6772342"/>
            <a:ext cx="4457700" cy="480060"/>
            <a:chOff x="0" y="0"/>
            <a:chExt cx="5943600" cy="64008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59436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biosecurity alerts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056364" y="7183822"/>
            <a:ext cx="4457700" cy="685800"/>
            <a:chOff x="0" y="0"/>
            <a:chExt cx="594360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943600" cy="914400"/>
            </a:xfrm>
            <a:custGeom>
              <a:avLst/>
              <a:gdLst/>
              <a:ahLst/>
              <a:cxnLst/>
              <a:rect r="r" b="b" t="t" l="l"/>
              <a:pathLst>
                <a:path h="91440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9436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1"/>
                </a:lnSpc>
              </a:pPr>
              <a:r>
                <a:rPr lang="en-US" sz="14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Confirmed outbreaks notify every registered farm within the containment zone.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22960" y="8023860"/>
            <a:ext cx="16596360" cy="1303020"/>
            <a:chOff x="0" y="0"/>
            <a:chExt cx="22128480" cy="17373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12848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1591056"/>
                  </a:lnTo>
                  <a:cubicBezTo>
                    <a:pt x="22128480" y="1671828"/>
                    <a:pt x="22062948" y="1737360"/>
                    <a:pt x="21982176" y="1737360"/>
                  </a:cubicBezTo>
                  <a:lnTo>
                    <a:pt x="146304" y="1737360"/>
                  </a:lnTo>
                  <a:cubicBezTo>
                    <a:pt x="65532" y="1737360"/>
                    <a:pt x="0" y="1671828"/>
                    <a:pt x="0" y="1591056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303020" y="8023860"/>
            <a:ext cx="15636240" cy="1303020"/>
            <a:chOff x="0" y="0"/>
            <a:chExt cx="20848320" cy="17373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8483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2084832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Scope: photo-based foliar diagnosis for Sri Lankan &amp; tropical crops — not drone or soil sensing, and not a substitute for an officer's final sign-off on a confirmed outbreak.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C8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HOW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Three layers, one containment loop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743200"/>
            <a:ext cx="5280660" cy="4114800"/>
            <a:chOff x="0" y="0"/>
            <a:chExt cx="7040880" cy="548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0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5340096"/>
                  </a:lnTo>
                  <a:cubicBezTo>
                    <a:pt x="7040880" y="5420868"/>
                    <a:pt x="6975348" y="5486400"/>
                    <a:pt x="689457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3154680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760" y="3429000"/>
            <a:ext cx="617220" cy="617220"/>
            <a:chOff x="0" y="0"/>
            <a:chExt cx="822960" cy="822960"/>
          </a:xfrm>
        </p:grpSpPr>
        <p:sp>
          <p:nvSpPr>
            <p:cNvPr name="Freeform 13" id="13" descr="/home/claude/agroguard/icons/network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4440" y="4526280"/>
            <a:ext cx="4457700" cy="548640"/>
            <a:chOff x="0" y="0"/>
            <a:chExt cx="59436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94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4440" y="5143500"/>
            <a:ext cx="4457700" cy="1577340"/>
            <a:chOff x="0" y="0"/>
            <a:chExt cx="594360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94360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19 + Vite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Tailwind CSS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Router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Leaflet / OpenStreetMap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15100" y="2743200"/>
            <a:ext cx="5280660" cy="4114800"/>
            <a:chOff x="0" y="0"/>
            <a:chExt cx="7040880" cy="548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40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5340096"/>
                  </a:lnTo>
                  <a:cubicBezTo>
                    <a:pt x="7040880" y="5420868"/>
                    <a:pt x="6975348" y="5486400"/>
                    <a:pt x="689457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26580" y="3154680"/>
            <a:ext cx="1165860" cy="1165860"/>
            <a:chOff x="0" y="0"/>
            <a:chExt cx="155448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5C8A3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200900" y="3429000"/>
            <a:ext cx="617220" cy="617220"/>
            <a:chOff x="0" y="0"/>
            <a:chExt cx="822960" cy="822960"/>
          </a:xfrm>
        </p:grpSpPr>
        <p:sp>
          <p:nvSpPr>
            <p:cNvPr name="Freeform 25" id="25" descr="/home/claude/agroguard/icons/database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26580" y="4526280"/>
            <a:ext cx="4457700" cy="548640"/>
            <a:chOff x="0" y="0"/>
            <a:chExt cx="59436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94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926580" y="5143500"/>
            <a:ext cx="4457700" cy="1577340"/>
            <a:chOff x="0" y="0"/>
            <a:chExt cx="5943600" cy="2103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94360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 + Express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authentication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CORS + rate limiting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API (cases, farms, visits…)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07240" y="2743200"/>
            <a:ext cx="5280660" cy="4114800"/>
            <a:chOff x="0" y="0"/>
            <a:chExt cx="7040880" cy="5486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40880" cy="5486400"/>
            </a:xfrm>
            <a:custGeom>
              <a:avLst/>
              <a:gdLst/>
              <a:ahLst/>
              <a:cxnLst/>
              <a:rect r="r" b="b" t="t" l="l"/>
              <a:pathLst>
                <a:path h="5486400" w="7040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894576" y="0"/>
                  </a:lnTo>
                  <a:cubicBezTo>
                    <a:pt x="6975348" y="0"/>
                    <a:pt x="7040880" y="65532"/>
                    <a:pt x="7040880" y="146304"/>
                  </a:cubicBezTo>
                  <a:lnTo>
                    <a:pt x="7040880" y="5340096"/>
                  </a:lnTo>
                  <a:cubicBezTo>
                    <a:pt x="7040880" y="5420868"/>
                    <a:pt x="6975348" y="5486400"/>
                    <a:pt x="6894576" y="5486400"/>
                  </a:cubicBezTo>
                  <a:lnTo>
                    <a:pt x="146304" y="5486400"/>
                  </a:lnTo>
                  <a:cubicBezTo>
                    <a:pt x="65532" y="5486400"/>
                    <a:pt x="0" y="5420868"/>
                    <a:pt x="0" y="534009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618720" y="3154680"/>
            <a:ext cx="1165860" cy="1165860"/>
            <a:chOff x="0" y="0"/>
            <a:chExt cx="1554480" cy="1554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893040" y="3429000"/>
            <a:ext cx="617220" cy="617220"/>
            <a:chOff x="0" y="0"/>
            <a:chExt cx="822960" cy="822960"/>
          </a:xfrm>
        </p:grpSpPr>
        <p:sp>
          <p:nvSpPr>
            <p:cNvPr name="Freeform 37" id="37" descr="/home/claude/agroguard/icons/satellite.png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618720" y="4526280"/>
            <a:ext cx="4457700" cy="548640"/>
            <a:chOff x="0" y="0"/>
            <a:chExt cx="59436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94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943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&amp; AI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618720" y="5143500"/>
            <a:ext cx="4457700" cy="1577340"/>
            <a:chOff x="0" y="0"/>
            <a:chExt cx="5943600" cy="2103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943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6" r="0" b="-50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94360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Gemini Vision + PlantVillage KB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Open-Meteo live telemetry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PostgreSQL / Supabase schema</a:t>
              </a:r>
            </a:p>
            <a:p>
              <a:pPr algn="l" marL="312182" indent="-156091" lvl="1">
                <a:lnSpc>
                  <a:spcPts val="2070"/>
                </a:lnSpc>
                <a:buFont typeface="Arial"/>
                <a:buChar char="•"/>
              </a:pPr>
              <a:r>
                <a:rPr lang="en-US" sz="1725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Zero-config in-memory fallback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4141" y="7338060"/>
            <a:ext cx="3771900" cy="891540"/>
            <a:chOff x="0" y="0"/>
            <a:chExt cx="502920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lnTo>
                    <a:pt x="4443984" y="0"/>
                  </a:lnTo>
                  <a:cubicBezTo>
                    <a:pt x="4767199" y="0"/>
                    <a:pt x="5029200" y="262001"/>
                    <a:pt x="5029200" y="585216"/>
                  </a:cubicBezTo>
                  <a:lnTo>
                    <a:pt x="5029200" y="603504"/>
                  </a:lnTo>
                  <a:cubicBezTo>
                    <a:pt x="5029200" y="926719"/>
                    <a:pt x="4767199" y="1188720"/>
                    <a:pt x="4443984" y="1188720"/>
                  </a:cubicBezTo>
                  <a:lnTo>
                    <a:pt x="585216" y="1188720"/>
                  </a:lnTo>
                  <a:cubicBezTo>
                    <a:pt x="262001" y="1188720"/>
                    <a:pt x="0" y="926719"/>
                    <a:pt x="0" y="603504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74141" y="7338060"/>
            <a:ext cx="3771900" cy="891540"/>
            <a:chOff x="0" y="0"/>
            <a:chExt cx="5029200" cy="1188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0292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Leaf Photo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446041" y="7338060"/>
            <a:ext cx="617220" cy="891540"/>
            <a:chOff x="0" y="0"/>
            <a:chExt cx="822960" cy="1188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22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22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5063261" y="7338060"/>
            <a:ext cx="3771900" cy="891540"/>
            <a:chOff x="0" y="0"/>
            <a:chExt cx="5029200" cy="1188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lnTo>
                    <a:pt x="4443984" y="0"/>
                  </a:lnTo>
                  <a:cubicBezTo>
                    <a:pt x="4767199" y="0"/>
                    <a:pt x="5029200" y="262001"/>
                    <a:pt x="5029200" y="585216"/>
                  </a:cubicBezTo>
                  <a:lnTo>
                    <a:pt x="5029200" y="603504"/>
                  </a:lnTo>
                  <a:cubicBezTo>
                    <a:pt x="5029200" y="926719"/>
                    <a:pt x="4767199" y="1188720"/>
                    <a:pt x="4443984" y="1188720"/>
                  </a:cubicBezTo>
                  <a:lnTo>
                    <a:pt x="585216" y="1188720"/>
                  </a:lnTo>
                  <a:cubicBezTo>
                    <a:pt x="262001" y="1188720"/>
                    <a:pt x="0" y="926719"/>
                    <a:pt x="0" y="603504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5063261" y="7338060"/>
            <a:ext cx="3771900" cy="891540"/>
            <a:chOff x="0" y="0"/>
            <a:chExt cx="5029200" cy="1188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0292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Vision AI + Weather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835161" y="7338060"/>
            <a:ext cx="617220" cy="891540"/>
            <a:chOff x="0" y="0"/>
            <a:chExt cx="822960" cy="1188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22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822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52381" y="7338060"/>
            <a:ext cx="3771900" cy="891540"/>
            <a:chOff x="0" y="0"/>
            <a:chExt cx="5029200" cy="1188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lnTo>
                    <a:pt x="4443984" y="0"/>
                  </a:lnTo>
                  <a:cubicBezTo>
                    <a:pt x="4767199" y="0"/>
                    <a:pt x="5029200" y="262001"/>
                    <a:pt x="5029200" y="585216"/>
                  </a:cubicBezTo>
                  <a:lnTo>
                    <a:pt x="5029200" y="603504"/>
                  </a:lnTo>
                  <a:cubicBezTo>
                    <a:pt x="5029200" y="926719"/>
                    <a:pt x="4767199" y="1188720"/>
                    <a:pt x="4443984" y="1188720"/>
                  </a:cubicBezTo>
                  <a:lnTo>
                    <a:pt x="585216" y="1188720"/>
                  </a:lnTo>
                  <a:cubicBezTo>
                    <a:pt x="262001" y="1188720"/>
                    <a:pt x="0" y="926719"/>
                    <a:pt x="0" y="603504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452381" y="7338060"/>
            <a:ext cx="3771900" cy="891540"/>
            <a:chOff x="0" y="0"/>
            <a:chExt cx="5029200" cy="11887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0292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Engine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224281" y="7338060"/>
            <a:ext cx="617220" cy="891540"/>
            <a:chOff x="0" y="0"/>
            <a:chExt cx="822960" cy="1188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2960" cy="1188720"/>
            </a:xfrm>
            <a:custGeom>
              <a:avLst/>
              <a:gdLst/>
              <a:ahLst/>
              <a:cxnLst/>
              <a:rect r="r" b="b" t="t" l="l"/>
              <a:pathLst>
                <a:path h="118872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327" t="0" r="-13532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822960" cy="1245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841501" y="7338060"/>
            <a:ext cx="3771900" cy="891540"/>
            <a:chOff x="0" y="0"/>
            <a:chExt cx="5029200" cy="1188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lnTo>
                    <a:pt x="4443984" y="0"/>
                  </a:lnTo>
                  <a:cubicBezTo>
                    <a:pt x="4767199" y="0"/>
                    <a:pt x="5029200" y="262001"/>
                    <a:pt x="5029200" y="585216"/>
                  </a:cubicBezTo>
                  <a:lnTo>
                    <a:pt x="5029200" y="603504"/>
                  </a:lnTo>
                  <a:cubicBezTo>
                    <a:pt x="5029200" y="926719"/>
                    <a:pt x="4767199" y="1188720"/>
                    <a:pt x="4443984" y="1188720"/>
                  </a:cubicBezTo>
                  <a:lnTo>
                    <a:pt x="585216" y="1188720"/>
                  </a:lnTo>
                  <a:cubicBezTo>
                    <a:pt x="262001" y="1188720"/>
                    <a:pt x="0" y="926719"/>
                    <a:pt x="0" y="603504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841501" y="7338060"/>
            <a:ext cx="3771900" cy="891540"/>
            <a:chOff x="0" y="0"/>
            <a:chExt cx="5029200" cy="1188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0292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29200">
                  <a:moveTo>
                    <a:pt x="0" y="0"/>
                  </a:moveTo>
                  <a:lnTo>
                    <a:pt x="5029200" y="0"/>
                  </a:lnTo>
                  <a:lnTo>
                    <a:pt x="50292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436" r="0" b="-3243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029200" cy="1226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Map + Alerts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5C8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HOW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Decisions that make it trustworthy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674620"/>
            <a:ext cx="8023860" cy="2674620"/>
            <a:chOff x="0" y="0"/>
            <a:chExt cx="10698480" cy="3566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7008" y="308610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A83A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08760" y="3387852"/>
            <a:ext cx="630936" cy="630936"/>
            <a:chOff x="0" y="0"/>
            <a:chExt cx="841248" cy="841248"/>
          </a:xfrm>
        </p:grpSpPr>
        <p:sp>
          <p:nvSpPr>
            <p:cNvPr name="Freeform 13" id="13" descr="/home/claude/agroguard/icons/shiel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43200" y="2976372"/>
            <a:ext cx="5760720" cy="548640"/>
            <a:chOff x="0" y="0"/>
            <a:chExt cx="768096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680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Strict confidence triage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43200" y="3552444"/>
            <a:ext cx="5760720" cy="1577340"/>
            <a:chOff x="0" y="0"/>
            <a:chExt cx="768096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809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2" r="0" b="-211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68096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≥90% confidence gives a full diagnosis; &lt;75% suppresses speculative treatment and auto-escalates to the local officer — no guessing.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26880" y="2674620"/>
            <a:ext cx="8023860" cy="2674620"/>
            <a:chOff x="0" y="0"/>
            <a:chExt cx="10698480" cy="3566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10928" y="308610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12680" y="3387852"/>
            <a:ext cx="630936" cy="630936"/>
            <a:chOff x="0" y="0"/>
            <a:chExt cx="841248" cy="841248"/>
          </a:xfrm>
        </p:grpSpPr>
        <p:sp>
          <p:nvSpPr>
            <p:cNvPr name="Freeform 25" id="25" descr="/home/claude/agroguard/icons/risk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247120" y="2976372"/>
            <a:ext cx="5760720" cy="548640"/>
            <a:chOff x="0" y="0"/>
            <a:chExt cx="76809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680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Deterministic risk engine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47120" y="3552444"/>
            <a:ext cx="5760720" cy="1577340"/>
            <a:chOff x="0" y="0"/>
            <a:chExt cx="7680960" cy="2103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2" r="0" b="-2116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768096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Spread-risk index (0–100) is a transparent, explainable formula — severity + leaf wetness + micro-climate + nearby cases.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829300"/>
            <a:ext cx="8023860" cy="2674620"/>
            <a:chOff x="0" y="0"/>
            <a:chExt cx="10698480" cy="3566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07008" y="6240780"/>
            <a:ext cx="1234440" cy="1234440"/>
            <a:chOff x="0" y="0"/>
            <a:chExt cx="16459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5C8A3A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08760" y="6542532"/>
            <a:ext cx="630936" cy="630936"/>
            <a:chOff x="0" y="0"/>
            <a:chExt cx="841248" cy="841248"/>
          </a:xfrm>
        </p:grpSpPr>
        <p:sp>
          <p:nvSpPr>
            <p:cNvPr name="Freeform 37" id="37" descr="/home/claude/agroguard/icons/map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743200" y="6131052"/>
            <a:ext cx="5760720" cy="548640"/>
            <a:chOff x="0" y="0"/>
            <a:chExt cx="768096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7680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Haversine outbreak clustering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743200" y="6707124"/>
            <a:ext cx="5760720" cy="1577340"/>
            <a:chOff x="0" y="0"/>
            <a:chExt cx="7680960" cy="2103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2" r="0" b="-211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768096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cases within 10km are grouped by pathogen; ≥3 cases in a radius forms a declared cluster with a real centroid.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326880" y="5829300"/>
            <a:ext cx="8023860" cy="2674620"/>
            <a:chOff x="0" y="0"/>
            <a:chExt cx="10698480" cy="35661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98480" cy="3566160"/>
            </a:xfrm>
            <a:custGeom>
              <a:avLst/>
              <a:gdLst/>
              <a:ahLst/>
              <a:cxnLst/>
              <a:rect r="r" b="b" t="t" l="l"/>
              <a:pathLst>
                <a:path h="3566160" w="1069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552176" y="0"/>
                  </a:lnTo>
                  <a:cubicBezTo>
                    <a:pt x="10632948" y="0"/>
                    <a:pt x="10698480" y="65532"/>
                    <a:pt x="10698480" y="146304"/>
                  </a:cubicBezTo>
                  <a:lnTo>
                    <a:pt x="10698480" y="3419856"/>
                  </a:lnTo>
                  <a:cubicBezTo>
                    <a:pt x="10698480" y="3500628"/>
                    <a:pt x="10632948" y="3566160"/>
                    <a:pt x="10552176" y="3566160"/>
                  </a:cubicBezTo>
                  <a:lnTo>
                    <a:pt x="146304" y="3566160"/>
                  </a:lnTo>
                  <a:cubicBezTo>
                    <a:pt x="65532" y="3566160"/>
                    <a:pt x="0" y="3500628"/>
                    <a:pt x="0" y="3419856"/>
                  </a:cubicBezTo>
                  <a:close/>
                </a:path>
              </a:pathLst>
            </a:custGeom>
            <a:solidFill>
              <a:srgbClr val="F6F7F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710928" y="6240780"/>
            <a:ext cx="1234440" cy="1234440"/>
            <a:chOff x="0" y="0"/>
            <a:chExt cx="1645920" cy="1645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012680" y="6542532"/>
            <a:ext cx="630936" cy="630936"/>
            <a:chOff x="0" y="0"/>
            <a:chExt cx="841248" cy="841248"/>
          </a:xfrm>
        </p:grpSpPr>
        <p:sp>
          <p:nvSpPr>
            <p:cNvPr name="Freeform 49" id="49" descr="/home/claude/agroguard/icons/database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247120" y="6131052"/>
            <a:ext cx="5760720" cy="548640"/>
            <a:chOff x="0" y="0"/>
            <a:chExt cx="768096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768096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Dual persistence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47120" y="6707124"/>
            <a:ext cx="5760720" cy="1577340"/>
            <a:chOff x="0" y="0"/>
            <a:chExt cx="7680960" cy="21031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680960" cy="2103120"/>
            </a:xfrm>
            <a:custGeom>
              <a:avLst/>
              <a:gdLst/>
              <a:ahLst/>
              <a:cxnLst/>
              <a:rect r="r" b="b" t="t" l="l"/>
              <a:pathLst>
                <a:path h="210312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62" r="0" b="-2116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7680960" cy="2169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zero-config on an in-memory store with realistic seed data, or against PostgreSQL / Supabase in production.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HOW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End to end, exactly as briefed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94560"/>
            <a:ext cx="15773400" cy="617220"/>
            <a:chOff x="0" y="0"/>
            <a:chExt cx="21031200" cy="8229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031200" cy="822960"/>
            </a:xfrm>
            <a:custGeom>
              <a:avLst/>
              <a:gdLst/>
              <a:ahLst/>
              <a:cxnLst/>
              <a:rect r="r" b="b" t="t" l="l"/>
              <a:pathLst>
                <a:path h="8229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7950" r="0" b="-447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03120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C9DA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“must work end to end” requirement from the problem brief, mapped to a working step.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979219" y="4032504"/>
            <a:ext cx="960120" cy="960120"/>
            <a:chOff x="0" y="0"/>
            <a:chExt cx="1280160" cy="1280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979219" y="4032504"/>
            <a:ext cx="960120" cy="9601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92E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6803" y="5198364"/>
            <a:ext cx="3044952" cy="822960"/>
            <a:chOff x="0" y="0"/>
            <a:chExt cx="4059936" cy="10972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599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405993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 &amp; diagnose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36803" y="6021324"/>
            <a:ext cx="3044952" cy="2468880"/>
            <a:chOff x="0" y="0"/>
            <a:chExt cx="4059936" cy="3291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59936" cy="3291840"/>
            </a:xfrm>
            <a:custGeom>
              <a:avLst/>
              <a:gdLst/>
              <a:ahLst/>
              <a:cxnLst/>
              <a:rect r="r" b="b" t="t" l="l"/>
              <a:pathLst>
                <a:path h="329184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4059936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C9DA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 uploads leaf photos and gets a diagnosis in Sinhala, Tamil, or English.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3898602" y="4512564"/>
            <a:ext cx="714946" cy="0"/>
          </a:xfrm>
          <a:prstGeom prst="line">
            <a:avLst/>
          </a:prstGeom>
          <a:ln cap="rnd" w="19050">
            <a:solidFill>
              <a:srgbClr val="D9A4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5298491" y="4032504"/>
            <a:ext cx="960120" cy="960120"/>
            <a:chOff x="0" y="0"/>
            <a:chExt cx="12801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298491" y="4032504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92E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256075" y="5198364"/>
            <a:ext cx="3044952" cy="822960"/>
            <a:chOff x="0" y="0"/>
            <a:chExt cx="4059936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599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405993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 code vs. AI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256075" y="6021324"/>
            <a:ext cx="3044952" cy="2468880"/>
            <a:chOff x="0" y="0"/>
            <a:chExt cx="4059936" cy="32918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59936" cy="3291840"/>
            </a:xfrm>
            <a:custGeom>
              <a:avLst/>
              <a:gdLst/>
              <a:ahLst/>
              <a:cxnLst/>
              <a:rect r="r" b="b" t="t" l="l"/>
              <a:pathLst>
                <a:path h="329184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4059936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C9DA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 and outbreak checks run as deterministic code; only image and severity use AI.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617763" y="4032504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617763" y="4032504"/>
            <a:ext cx="960120" cy="960120"/>
            <a:chOff x="0" y="0"/>
            <a:chExt cx="128016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92E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575347" y="5198364"/>
            <a:ext cx="3044952" cy="822960"/>
            <a:chOff x="0" y="0"/>
            <a:chExt cx="4059936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599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405993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Escalate, don't guess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575347" y="6021324"/>
            <a:ext cx="3044952" cy="2468880"/>
            <a:chOff x="0" y="0"/>
            <a:chExt cx="4059936" cy="3291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59936" cy="3291840"/>
            </a:xfrm>
            <a:custGeom>
              <a:avLst/>
              <a:gdLst/>
              <a:ahLst/>
              <a:cxnLst/>
              <a:rect r="r" b="b" t="t" l="l"/>
              <a:pathLst>
                <a:path h="329184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4059936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C9DA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Low-confidence diagnoses skip the guess and route straight to an officer.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937035" y="4032504"/>
            <a:ext cx="960120" cy="960120"/>
            <a:chOff x="0" y="0"/>
            <a:chExt cx="1280160" cy="12801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937035" y="4032504"/>
            <a:ext cx="960120" cy="960120"/>
            <a:chOff x="0" y="0"/>
            <a:chExt cx="1280160" cy="1280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92E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894619" y="5198364"/>
            <a:ext cx="3044952" cy="822960"/>
            <a:chOff x="0" y="0"/>
            <a:chExt cx="4059936" cy="10972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0599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05993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Cluster &amp; map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0894619" y="6021324"/>
            <a:ext cx="3044952" cy="2468880"/>
            <a:chOff x="0" y="0"/>
            <a:chExt cx="4059936" cy="32918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59936" cy="3291840"/>
            </a:xfrm>
            <a:custGeom>
              <a:avLst/>
              <a:gdLst/>
              <a:ahLst/>
              <a:cxnLst/>
              <a:rect r="r" b="b" t="t" l="l"/>
              <a:pathLst>
                <a:path h="329184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4059936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C9DA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Confirmed clusters appear on the regional map and alert every farm at risk.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256307" y="4032504"/>
            <a:ext cx="960120" cy="960120"/>
            <a:chOff x="0" y="0"/>
            <a:chExt cx="1280160" cy="12801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D9A441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256307" y="4032504"/>
            <a:ext cx="960120" cy="960120"/>
            <a:chOff x="0" y="0"/>
            <a:chExt cx="128016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092E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213891" y="5198364"/>
            <a:ext cx="3044952" cy="822960"/>
            <a:chOff x="0" y="0"/>
            <a:chExt cx="4059936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059936" cy="1097280"/>
            </a:xfrm>
            <a:custGeom>
              <a:avLst/>
              <a:gdLst/>
              <a:ahLst/>
              <a:cxnLst/>
              <a:rect r="r" b="b" t="t" l="l"/>
              <a:pathLst>
                <a:path h="109728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4" r="0" b="-2209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059936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Close the loop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213891" y="6021324"/>
            <a:ext cx="3044952" cy="2468880"/>
            <a:chOff x="0" y="0"/>
            <a:chExt cx="4059936" cy="32918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59936" cy="3291840"/>
            </a:xfrm>
            <a:custGeom>
              <a:avLst/>
              <a:gdLst/>
              <a:ahLst/>
              <a:cxnLst/>
              <a:rect r="r" b="b" t="t" l="l"/>
              <a:pathLst>
                <a:path h="3291840" w="4059936">
                  <a:moveTo>
                    <a:pt x="0" y="0"/>
                  </a:moveTo>
                  <a:lnTo>
                    <a:pt x="4059936" y="0"/>
                  </a:lnTo>
                  <a:lnTo>
                    <a:pt x="4059936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4029" t="0" r="-5402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4059936" cy="3348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>
                  <a:solidFill>
                    <a:srgbClr val="C9DAB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 officer's field visit updates the case, and the farmer is notified.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name="AutoShape 73" id="73"/>
          <p:cNvSpPr/>
          <p:nvPr/>
        </p:nvSpPr>
        <p:spPr>
          <a:xfrm flipV="true">
            <a:off x="7080714" y="4522089"/>
            <a:ext cx="714946" cy="0"/>
          </a:xfrm>
          <a:prstGeom prst="line">
            <a:avLst/>
          </a:prstGeom>
          <a:ln cap="rnd" w="19050">
            <a:solidFill>
              <a:srgbClr val="D9A4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4" id="74"/>
          <p:cNvSpPr/>
          <p:nvPr/>
        </p:nvSpPr>
        <p:spPr>
          <a:xfrm flipV="true">
            <a:off x="13856418" y="4531614"/>
            <a:ext cx="714947" cy="0"/>
          </a:xfrm>
          <a:prstGeom prst="line">
            <a:avLst/>
          </a:prstGeom>
          <a:ln cap="rnd" w="19050">
            <a:solidFill>
              <a:srgbClr val="D9A44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V="true">
            <a:off x="10262826" y="4512564"/>
            <a:ext cx="714946" cy="0"/>
          </a:xfrm>
          <a:prstGeom prst="line">
            <a:avLst/>
          </a:prstGeom>
          <a:ln cap="rnd" w="19050">
            <a:solidFill>
              <a:srgbClr val="D9A44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801726"/>
            <a:ext cx="5498306" cy="3297608"/>
            <a:chOff x="0" y="0"/>
            <a:chExt cx="7331075" cy="4396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075" cy="4396810"/>
            </a:xfrm>
            <a:custGeom>
              <a:avLst/>
              <a:gdLst/>
              <a:ahLst/>
              <a:cxnLst/>
              <a:rect r="r" b="b" t="t" l="l"/>
              <a:pathLst>
                <a:path h="4396810" w="7331075">
                  <a:moveTo>
                    <a:pt x="0" y="122705"/>
                  </a:moveTo>
                  <a:cubicBezTo>
                    <a:pt x="0" y="54943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54943"/>
                    <a:pt x="7331075" y="122705"/>
                  </a:cubicBezTo>
                  <a:lnTo>
                    <a:pt x="7331075" y="4274106"/>
                  </a:lnTo>
                  <a:cubicBezTo>
                    <a:pt x="7331075" y="4341868"/>
                    <a:pt x="7297235" y="4396810"/>
                    <a:pt x="7255500" y="4396810"/>
                  </a:cubicBezTo>
                  <a:lnTo>
                    <a:pt x="75575" y="4396810"/>
                  </a:lnTo>
                  <a:cubicBezTo>
                    <a:pt x="33840" y="4396810"/>
                    <a:pt x="0" y="4341868"/>
                    <a:pt x="0" y="4274106"/>
                  </a:cubicBezTo>
                  <a:close/>
                </a:path>
              </a:pathLst>
            </a:custGeom>
            <a:blipFill>
              <a:blip r:embed="rId4"/>
              <a:stretch>
                <a:fillRect l="-3311" t="0" r="-3311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974" y="2801726"/>
            <a:ext cx="5340545" cy="3297608"/>
            <a:chOff x="0" y="0"/>
            <a:chExt cx="7120727" cy="439681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20727" cy="4396810"/>
            </a:xfrm>
            <a:custGeom>
              <a:avLst/>
              <a:gdLst/>
              <a:ahLst/>
              <a:cxnLst/>
              <a:rect r="r" b="b" t="t" l="l"/>
              <a:pathLst>
                <a:path h="4396810" w="7120727">
                  <a:moveTo>
                    <a:pt x="0" y="122705"/>
                  </a:moveTo>
                  <a:cubicBezTo>
                    <a:pt x="0" y="54943"/>
                    <a:pt x="32869" y="0"/>
                    <a:pt x="73407" y="0"/>
                  </a:cubicBezTo>
                  <a:lnTo>
                    <a:pt x="7047319" y="0"/>
                  </a:lnTo>
                  <a:cubicBezTo>
                    <a:pt x="7087858" y="0"/>
                    <a:pt x="7120727" y="54943"/>
                    <a:pt x="7120727" y="122705"/>
                  </a:cubicBezTo>
                  <a:lnTo>
                    <a:pt x="7120727" y="4274106"/>
                  </a:lnTo>
                  <a:cubicBezTo>
                    <a:pt x="7120727" y="4341868"/>
                    <a:pt x="7087858" y="4396810"/>
                    <a:pt x="7047319" y="4396810"/>
                  </a:cubicBezTo>
                  <a:lnTo>
                    <a:pt x="73407" y="4396810"/>
                  </a:lnTo>
                  <a:cubicBezTo>
                    <a:pt x="32869" y="4396810"/>
                    <a:pt x="0" y="4341868"/>
                    <a:pt x="0" y="4274106"/>
                  </a:cubicBezTo>
                  <a:close/>
                </a:path>
              </a:pathLst>
            </a:custGeom>
            <a:blipFill>
              <a:blip r:embed="rId5"/>
              <a:stretch>
                <a:fillRect l="-4885" t="0" r="-4885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6366034"/>
            <a:ext cx="5498306" cy="2972752"/>
            <a:chOff x="0" y="0"/>
            <a:chExt cx="7331075" cy="3963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6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14974" y="6366034"/>
            <a:ext cx="5340545" cy="2972752"/>
            <a:chOff x="0" y="0"/>
            <a:chExt cx="7120727" cy="3963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20727" cy="3963670"/>
            </a:xfrm>
            <a:custGeom>
              <a:avLst/>
              <a:gdLst/>
              <a:ahLst/>
              <a:cxnLst/>
              <a:rect r="r" b="b" t="t" l="l"/>
              <a:pathLst>
                <a:path h="3963670" w="7120727">
                  <a:moveTo>
                    <a:pt x="0" y="110617"/>
                  </a:moveTo>
                  <a:cubicBezTo>
                    <a:pt x="0" y="49530"/>
                    <a:pt x="32869" y="0"/>
                    <a:pt x="73407" y="0"/>
                  </a:cubicBezTo>
                  <a:lnTo>
                    <a:pt x="7047319" y="0"/>
                  </a:lnTo>
                  <a:cubicBezTo>
                    <a:pt x="7087858" y="0"/>
                    <a:pt x="7120727" y="49530"/>
                    <a:pt x="7120727" y="110617"/>
                  </a:cubicBezTo>
                  <a:lnTo>
                    <a:pt x="7120727" y="3853053"/>
                  </a:lnTo>
                  <a:cubicBezTo>
                    <a:pt x="7120727" y="3914140"/>
                    <a:pt x="7087858" y="3963670"/>
                    <a:pt x="7047319" y="3963670"/>
                  </a:cubicBezTo>
                  <a:lnTo>
                    <a:pt x="73407" y="3963670"/>
                  </a:lnTo>
                  <a:cubicBezTo>
                    <a:pt x="32869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7"/>
              <a:stretch>
                <a:fillRect l="0" t="-526" r="0" b="-526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26435" y="398216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Landing Page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26435" y="724281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Sign in Page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12778" y="398216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Login Page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312778" y="724281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Farmer Dashboard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937034"/>
            <a:ext cx="5498306" cy="2972752"/>
            <a:chOff x="0" y="0"/>
            <a:chExt cx="7331075" cy="396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4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974" y="2937034"/>
            <a:ext cx="5253917" cy="2972752"/>
            <a:chOff x="0" y="0"/>
            <a:chExt cx="7005223" cy="3963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5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6366034"/>
            <a:ext cx="5498306" cy="2972752"/>
            <a:chOff x="0" y="0"/>
            <a:chExt cx="7331075" cy="3963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6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14974" y="6366034"/>
            <a:ext cx="5253917" cy="2972752"/>
            <a:chOff x="0" y="0"/>
            <a:chExt cx="7005223" cy="3963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7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14269" y="432314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Interface in Sinhala Language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12778" y="432314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Interface in Tamil Language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684" y="728091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Platform Features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1977409" y="1023868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Schedule Extension Field Visits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12778" y="728091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Process Of The System Works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937034"/>
            <a:ext cx="5498306" cy="3232637"/>
            <a:chOff x="0" y="0"/>
            <a:chExt cx="7331075" cy="43101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075" cy="4310182"/>
            </a:xfrm>
            <a:custGeom>
              <a:avLst/>
              <a:gdLst/>
              <a:ahLst/>
              <a:cxnLst/>
              <a:rect r="r" b="b" t="t" l="l"/>
              <a:pathLst>
                <a:path h="4310182" w="7331075">
                  <a:moveTo>
                    <a:pt x="0" y="120287"/>
                  </a:moveTo>
                  <a:cubicBezTo>
                    <a:pt x="0" y="5386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53860"/>
                    <a:pt x="7331075" y="120287"/>
                  </a:cubicBezTo>
                  <a:lnTo>
                    <a:pt x="7331075" y="4189895"/>
                  </a:lnTo>
                  <a:cubicBezTo>
                    <a:pt x="7331075" y="4256322"/>
                    <a:pt x="7297235" y="4310182"/>
                    <a:pt x="7255500" y="4310182"/>
                  </a:cubicBezTo>
                  <a:lnTo>
                    <a:pt x="75575" y="4310182"/>
                  </a:lnTo>
                  <a:cubicBezTo>
                    <a:pt x="33840" y="4310182"/>
                    <a:pt x="0" y="4256322"/>
                    <a:pt x="0" y="4189895"/>
                  </a:cubicBezTo>
                  <a:close/>
                </a:path>
              </a:pathLst>
            </a:custGeom>
            <a:blipFill>
              <a:blip r:embed="rId4"/>
              <a:stretch>
                <a:fillRect l="-2260" t="0" r="-2260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8903234" y="6313865"/>
            <a:ext cx="5498306" cy="3397063"/>
            <a:chOff x="0" y="0"/>
            <a:chExt cx="7331075" cy="452941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31075" cy="4529417"/>
            </a:xfrm>
            <a:custGeom>
              <a:avLst/>
              <a:gdLst/>
              <a:ahLst/>
              <a:cxnLst/>
              <a:rect r="r" b="b" t="t" l="l"/>
              <a:pathLst>
                <a:path h="4529417" w="7331075">
                  <a:moveTo>
                    <a:pt x="0" y="126406"/>
                  </a:moveTo>
                  <a:cubicBezTo>
                    <a:pt x="0" y="5660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56600"/>
                    <a:pt x="7331075" y="126406"/>
                  </a:cubicBezTo>
                  <a:lnTo>
                    <a:pt x="7331075" y="4403011"/>
                  </a:lnTo>
                  <a:cubicBezTo>
                    <a:pt x="7331075" y="4472818"/>
                    <a:pt x="7297235" y="4529417"/>
                    <a:pt x="7255500" y="4529417"/>
                  </a:cubicBezTo>
                  <a:lnTo>
                    <a:pt x="75575" y="4529417"/>
                  </a:lnTo>
                  <a:cubicBezTo>
                    <a:pt x="33840" y="4529417"/>
                    <a:pt x="0" y="4472818"/>
                    <a:pt x="0" y="4403011"/>
                  </a:cubicBezTo>
                  <a:close/>
                </a:path>
              </a:pathLst>
            </a:custGeom>
            <a:blipFill>
              <a:blip r:embed="rId5"/>
              <a:stretch>
                <a:fillRect l="-4918" t="0" r="-4918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614269" y="432314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About Us Page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59865" y="7504967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Contact Us Page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-1977409" y="1023868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Schedule Extension Field Visits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937034"/>
            <a:ext cx="5275574" cy="2972752"/>
            <a:chOff x="0" y="0"/>
            <a:chExt cx="7034099" cy="396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34099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34099">
                  <a:moveTo>
                    <a:pt x="0" y="110617"/>
                  </a:moveTo>
                  <a:cubicBezTo>
                    <a:pt x="0" y="49530"/>
                    <a:pt x="32469" y="0"/>
                    <a:pt x="72514" y="0"/>
                  </a:cubicBezTo>
                  <a:lnTo>
                    <a:pt x="6961584" y="0"/>
                  </a:lnTo>
                  <a:cubicBezTo>
                    <a:pt x="7001630" y="0"/>
                    <a:pt x="7034099" y="49530"/>
                    <a:pt x="7034099" y="110617"/>
                  </a:cubicBezTo>
                  <a:lnTo>
                    <a:pt x="7034099" y="3853053"/>
                  </a:lnTo>
                  <a:cubicBezTo>
                    <a:pt x="7034099" y="3914140"/>
                    <a:pt x="7001630" y="3963670"/>
                    <a:pt x="6961584" y="3963670"/>
                  </a:cubicBezTo>
                  <a:lnTo>
                    <a:pt x="72514" y="3963670"/>
                  </a:lnTo>
                  <a:cubicBezTo>
                    <a:pt x="32469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4"/>
              <a:stretch>
                <a:fillRect l="-88" t="0" r="-88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974" y="2937034"/>
            <a:ext cx="5188946" cy="2972752"/>
            <a:chOff x="0" y="0"/>
            <a:chExt cx="6918594" cy="3963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18595" cy="3963670"/>
            </a:xfrm>
            <a:custGeom>
              <a:avLst/>
              <a:gdLst/>
              <a:ahLst/>
              <a:cxnLst/>
              <a:rect r="r" b="b" t="t" l="l"/>
              <a:pathLst>
                <a:path h="3963670" w="6918595">
                  <a:moveTo>
                    <a:pt x="0" y="110617"/>
                  </a:moveTo>
                  <a:cubicBezTo>
                    <a:pt x="0" y="49530"/>
                    <a:pt x="31936" y="0"/>
                    <a:pt x="71323" y="0"/>
                  </a:cubicBezTo>
                  <a:lnTo>
                    <a:pt x="6847271" y="0"/>
                  </a:lnTo>
                  <a:cubicBezTo>
                    <a:pt x="6886659" y="0"/>
                    <a:pt x="6918595" y="49530"/>
                    <a:pt x="6918595" y="110617"/>
                  </a:cubicBezTo>
                  <a:lnTo>
                    <a:pt x="6918595" y="3853053"/>
                  </a:lnTo>
                  <a:cubicBezTo>
                    <a:pt x="6918595" y="3914140"/>
                    <a:pt x="6886659" y="3963670"/>
                    <a:pt x="6847271" y="3963670"/>
                  </a:cubicBezTo>
                  <a:lnTo>
                    <a:pt x="71323" y="3963670"/>
                  </a:lnTo>
                  <a:cubicBezTo>
                    <a:pt x="319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5"/>
              <a:stretch>
                <a:fillRect l="-924" t="0" r="-92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6366034"/>
            <a:ext cx="5275574" cy="2972752"/>
            <a:chOff x="0" y="0"/>
            <a:chExt cx="7034099" cy="3963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34099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34099">
                  <a:moveTo>
                    <a:pt x="0" y="110617"/>
                  </a:moveTo>
                  <a:cubicBezTo>
                    <a:pt x="0" y="49530"/>
                    <a:pt x="32469" y="0"/>
                    <a:pt x="72514" y="0"/>
                  </a:cubicBezTo>
                  <a:lnTo>
                    <a:pt x="6961584" y="0"/>
                  </a:lnTo>
                  <a:cubicBezTo>
                    <a:pt x="7001630" y="0"/>
                    <a:pt x="7034099" y="49530"/>
                    <a:pt x="7034099" y="110617"/>
                  </a:cubicBezTo>
                  <a:lnTo>
                    <a:pt x="7034099" y="3853053"/>
                  </a:lnTo>
                  <a:cubicBezTo>
                    <a:pt x="7034099" y="3914140"/>
                    <a:pt x="7001630" y="3963670"/>
                    <a:pt x="6961584" y="3963670"/>
                  </a:cubicBezTo>
                  <a:lnTo>
                    <a:pt x="72514" y="3963670"/>
                  </a:lnTo>
                  <a:cubicBezTo>
                    <a:pt x="32469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6"/>
              <a:stretch>
                <a:fillRect l="-88" t="0" r="-88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14974" y="6366034"/>
            <a:ext cx="5188946" cy="2972752"/>
            <a:chOff x="0" y="0"/>
            <a:chExt cx="6918594" cy="3963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18595" cy="3963670"/>
            </a:xfrm>
            <a:custGeom>
              <a:avLst/>
              <a:gdLst/>
              <a:ahLst/>
              <a:cxnLst/>
              <a:rect r="r" b="b" t="t" l="l"/>
              <a:pathLst>
                <a:path h="3963670" w="6918595">
                  <a:moveTo>
                    <a:pt x="0" y="110617"/>
                  </a:moveTo>
                  <a:cubicBezTo>
                    <a:pt x="0" y="49530"/>
                    <a:pt x="31936" y="0"/>
                    <a:pt x="71323" y="0"/>
                  </a:cubicBezTo>
                  <a:lnTo>
                    <a:pt x="6847271" y="0"/>
                  </a:lnTo>
                  <a:cubicBezTo>
                    <a:pt x="6886659" y="0"/>
                    <a:pt x="6918595" y="49530"/>
                    <a:pt x="6918595" y="110617"/>
                  </a:cubicBezTo>
                  <a:lnTo>
                    <a:pt x="6918595" y="3853053"/>
                  </a:lnTo>
                  <a:cubicBezTo>
                    <a:pt x="6918595" y="3914140"/>
                    <a:pt x="6886659" y="3963670"/>
                    <a:pt x="6847271" y="3963670"/>
                  </a:cubicBezTo>
                  <a:lnTo>
                    <a:pt x="71323" y="3963670"/>
                  </a:lnTo>
                  <a:cubicBezTo>
                    <a:pt x="319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7"/>
              <a:stretch>
                <a:fillRect l="-924" t="0" r="-92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461869" y="417074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New Crop Diagnosis Form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73681" y="411861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Upload Foliar Specimen Photo &amp; Symptoms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61869" y="7383780"/>
            <a:ext cx="228896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Verification &amp; Environmental Correlation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065895" y="738378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Initiate AI Diagnostic Pipeline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937034"/>
            <a:ext cx="5498306" cy="2972752"/>
            <a:chOff x="0" y="0"/>
            <a:chExt cx="7331075" cy="396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4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974" y="2937034"/>
            <a:ext cx="5253917" cy="2972752"/>
            <a:chOff x="0" y="0"/>
            <a:chExt cx="7005223" cy="3963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5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6366034"/>
            <a:ext cx="5498306" cy="2972752"/>
            <a:chOff x="0" y="0"/>
            <a:chExt cx="7331075" cy="3963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6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14974" y="6366034"/>
            <a:ext cx="5253917" cy="2972752"/>
            <a:chOff x="0" y="0"/>
            <a:chExt cx="7005223" cy="3963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7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14269" y="432314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Agri Officer 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12778" y="432314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Agricultural Extension Field Visits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684" y="728091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Schedule Extension Field Visits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1977409" y="1023868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Schedule Extension Field Visits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12778" y="728091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Regional Pathogen Surveillance Map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937034"/>
            <a:ext cx="5498306" cy="2972752"/>
            <a:chOff x="0" y="0"/>
            <a:chExt cx="7331075" cy="396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4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974" y="2937034"/>
            <a:ext cx="5253917" cy="2972752"/>
            <a:chOff x="0" y="0"/>
            <a:chExt cx="7005223" cy="3963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4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6366034"/>
            <a:ext cx="5498306" cy="2972752"/>
            <a:chOff x="0" y="0"/>
            <a:chExt cx="7331075" cy="3963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5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14974" y="6366034"/>
            <a:ext cx="5253917" cy="2972752"/>
            <a:chOff x="0" y="0"/>
            <a:chExt cx="7005223" cy="3963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6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14269" y="432314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Researcher Dashboard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12778" y="432314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Outbreak Map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684" y="728091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Regional Trend Analysis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1977409" y="1023868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Schedule Extension Field Visits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12778" y="728091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Admin Dashboard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0972800" cy="1234440"/>
            <a:chOff x="0" y="0"/>
            <a:chExt cx="1463040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6304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200" r="0" b="-1232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46304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See it running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125980"/>
            <a:ext cx="10972800" cy="548640"/>
            <a:chOff x="0" y="0"/>
            <a:chExt cx="146304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Swap each box below for a screenshot from the live system.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11054" y="2937034"/>
            <a:ext cx="5498306" cy="2972752"/>
            <a:chOff x="0" y="0"/>
            <a:chExt cx="7331075" cy="39636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4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4974" y="2937034"/>
            <a:ext cx="5253917" cy="2972752"/>
            <a:chOff x="0" y="0"/>
            <a:chExt cx="7005223" cy="39636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5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11054" y="6366034"/>
            <a:ext cx="5498306" cy="2972752"/>
            <a:chOff x="0" y="0"/>
            <a:chExt cx="7331075" cy="3963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31075" cy="3963670"/>
            </a:xfrm>
            <a:custGeom>
              <a:avLst/>
              <a:gdLst/>
              <a:ahLst/>
              <a:cxnLst/>
              <a:rect r="r" b="b" t="t" l="l"/>
              <a:pathLst>
                <a:path h="3963670" w="7331075">
                  <a:moveTo>
                    <a:pt x="0" y="110617"/>
                  </a:moveTo>
                  <a:cubicBezTo>
                    <a:pt x="0" y="49530"/>
                    <a:pt x="33840" y="0"/>
                    <a:pt x="75575" y="0"/>
                  </a:cubicBezTo>
                  <a:lnTo>
                    <a:pt x="7255500" y="0"/>
                  </a:lnTo>
                  <a:cubicBezTo>
                    <a:pt x="7297235" y="0"/>
                    <a:pt x="7331075" y="49530"/>
                    <a:pt x="7331075" y="110617"/>
                  </a:cubicBezTo>
                  <a:lnTo>
                    <a:pt x="7331075" y="3853053"/>
                  </a:lnTo>
                  <a:cubicBezTo>
                    <a:pt x="7331075" y="3914140"/>
                    <a:pt x="7297235" y="3963670"/>
                    <a:pt x="7255500" y="3963670"/>
                  </a:cubicBezTo>
                  <a:lnTo>
                    <a:pt x="75575" y="3963670"/>
                  </a:lnTo>
                  <a:cubicBezTo>
                    <a:pt x="33840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6"/>
              <a:stretch>
                <a:fillRect l="0" t="-2019" r="0" b="-2019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314974" y="6366034"/>
            <a:ext cx="5253917" cy="2972752"/>
            <a:chOff x="0" y="0"/>
            <a:chExt cx="7005223" cy="3963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5223" cy="3963670"/>
            </a:xfrm>
            <a:custGeom>
              <a:avLst/>
              <a:gdLst/>
              <a:ahLst/>
              <a:cxnLst/>
              <a:rect r="r" b="b" t="t" l="l"/>
              <a:pathLst>
                <a:path h="3963670" w="7005223">
                  <a:moveTo>
                    <a:pt x="0" y="110617"/>
                  </a:moveTo>
                  <a:cubicBezTo>
                    <a:pt x="0" y="49530"/>
                    <a:pt x="32336" y="0"/>
                    <a:pt x="72216" y="0"/>
                  </a:cubicBezTo>
                  <a:lnTo>
                    <a:pt x="6933006" y="0"/>
                  </a:lnTo>
                  <a:cubicBezTo>
                    <a:pt x="6972887" y="0"/>
                    <a:pt x="7005223" y="49530"/>
                    <a:pt x="7005223" y="110617"/>
                  </a:cubicBezTo>
                  <a:lnTo>
                    <a:pt x="7005223" y="3853053"/>
                  </a:lnTo>
                  <a:cubicBezTo>
                    <a:pt x="7005223" y="3914140"/>
                    <a:pt x="6972887" y="3963670"/>
                    <a:pt x="6933006" y="3963670"/>
                  </a:cubicBezTo>
                  <a:lnTo>
                    <a:pt x="72216" y="3963670"/>
                  </a:lnTo>
                  <a:cubicBezTo>
                    <a:pt x="32336" y="3963670"/>
                    <a:pt x="0" y="3914140"/>
                    <a:pt x="0" y="3853053"/>
                  </a:cubicBezTo>
                  <a:close/>
                </a:path>
              </a:pathLst>
            </a:custGeom>
            <a:blipFill>
              <a:blip r:embed="rId7"/>
              <a:stretch>
                <a:fillRect l="-294" t="0" r="-294" b="0"/>
              </a:stretch>
            </a:blipFill>
            <a:ln w="23812" cap="sq">
              <a:solidFill>
                <a:srgbClr val="B9C4AE"/>
              </a:solidFill>
              <a:prstDash val="dash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14269" y="432314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User Directory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312778" y="432314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Regional Alerts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67684" y="7280910"/>
            <a:ext cx="228896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Sending Broadcast Regional Outbreak Warning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-1977409" y="10238680"/>
            <a:ext cx="2288965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Schedule Extension Field Visits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312778" y="7280910"/>
            <a:ext cx="228896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 i="true">
                <a:solidFill>
                  <a:srgbClr val="6D726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System Settings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PROOF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5798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0261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Verified against the brief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3031236"/>
            <a:ext cx="8229600" cy="480060"/>
            <a:chOff x="0" y="0"/>
            <a:chExt cx="109728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0972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test suite — backend/test-api.js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3648456"/>
            <a:ext cx="411480" cy="411480"/>
            <a:chOff x="0" y="0"/>
            <a:chExt cx="54864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5256" y="3730752"/>
            <a:ext cx="246888" cy="246888"/>
            <a:chOff x="0" y="0"/>
            <a:chExt cx="329184" cy="329184"/>
          </a:xfrm>
        </p:grpSpPr>
        <p:sp>
          <p:nvSpPr>
            <p:cNvPr name="Freeform 14" id="14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99032" y="3579876"/>
            <a:ext cx="3909060" cy="548640"/>
            <a:chOff x="0" y="0"/>
            <a:chExt cx="52120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Actor authentication &amp; JWT issuance for all 4 roles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4224528"/>
            <a:ext cx="411480" cy="411480"/>
            <a:chOff x="0" y="0"/>
            <a:chExt cx="54864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05256" y="4306824"/>
            <a:ext cx="246888" cy="246888"/>
            <a:chOff x="0" y="0"/>
            <a:chExt cx="329184" cy="329184"/>
          </a:xfrm>
        </p:grpSpPr>
        <p:sp>
          <p:nvSpPr>
            <p:cNvPr name="Freeform 21" id="21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99032" y="4155948"/>
            <a:ext cx="3909060" cy="548640"/>
            <a:chOff x="0" y="0"/>
            <a:chExt cx="521208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Registered farms with valid Sri Lankan GPS coordinates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4800600"/>
            <a:ext cx="411480" cy="411480"/>
            <a:chOff x="0" y="0"/>
            <a:chExt cx="54864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5256" y="4882896"/>
            <a:ext cx="246888" cy="246888"/>
            <a:chOff x="0" y="0"/>
            <a:chExt cx="329184" cy="329184"/>
          </a:xfrm>
        </p:grpSpPr>
        <p:sp>
          <p:nvSpPr>
            <p:cNvPr name="Freeform 28" id="28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99032" y="4732020"/>
            <a:ext cx="3909060" cy="548640"/>
            <a:chOff x="0" y="0"/>
            <a:chExt cx="521208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Multilingual diagnosis — English, Sinhala, Tamil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22960" y="5376672"/>
            <a:ext cx="411480" cy="411480"/>
            <a:chOff x="0" y="0"/>
            <a:chExt cx="54864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05256" y="5458968"/>
            <a:ext cx="246888" cy="246888"/>
            <a:chOff x="0" y="0"/>
            <a:chExt cx="329184" cy="329184"/>
          </a:xfrm>
        </p:grpSpPr>
        <p:sp>
          <p:nvSpPr>
            <p:cNvPr name="Freeform 35" id="35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99032" y="5308092"/>
            <a:ext cx="3909060" cy="548640"/>
            <a:chOff x="0" y="0"/>
            <a:chExt cx="521208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Confidence triage: &lt;75% escalates without a guess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143500" y="3648456"/>
            <a:ext cx="411480" cy="411480"/>
            <a:chOff x="0" y="0"/>
            <a:chExt cx="54864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225796" y="3730752"/>
            <a:ext cx="246888" cy="246888"/>
            <a:chOff x="0" y="0"/>
            <a:chExt cx="329184" cy="329184"/>
          </a:xfrm>
        </p:grpSpPr>
        <p:sp>
          <p:nvSpPr>
            <p:cNvPr name="Freeform 42" id="42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5719572" y="3579876"/>
            <a:ext cx="3909060" cy="548640"/>
            <a:chOff x="0" y="0"/>
            <a:chExt cx="5212080" cy="731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weather telemetry from Open-Meteo per farm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143500" y="4224528"/>
            <a:ext cx="411480" cy="411480"/>
            <a:chOff x="0" y="0"/>
            <a:chExt cx="54864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225796" y="4306824"/>
            <a:ext cx="246888" cy="246888"/>
            <a:chOff x="0" y="0"/>
            <a:chExt cx="329184" cy="329184"/>
          </a:xfrm>
        </p:grpSpPr>
        <p:sp>
          <p:nvSpPr>
            <p:cNvPr name="Freeform 49" id="49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719572" y="4155948"/>
            <a:ext cx="3909060" cy="548640"/>
            <a:chOff x="0" y="0"/>
            <a:chExt cx="521208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Haversine clustering — 10km radius, min. 3 cases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143500" y="4800600"/>
            <a:ext cx="411480" cy="411480"/>
            <a:chOff x="0" y="0"/>
            <a:chExt cx="54864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225796" y="4882896"/>
            <a:ext cx="246888" cy="246888"/>
            <a:chOff x="0" y="0"/>
            <a:chExt cx="329184" cy="329184"/>
          </a:xfrm>
        </p:grpSpPr>
        <p:sp>
          <p:nvSpPr>
            <p:cNvPr name="Freeform 56" id="56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719572" y="4732020"/>
            <a:ext cx="3909060" cy="548640"/>
            <a:chOff x="0" y="0"/>
            <a:chExt cx="521208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Confirmed outbreak auto-alerts nearby farms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143500" y="5376672"/>
            <a:ext cx="411480" cy="411480"/>
            <a:chOff x="0" y="0"/>
            <a:chExt cx="5486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274320"/>
                  </a:moveTo>
                  <a:cubicBezTo>
                    <a:pt x="0" y="122809"/>
                    <a:pt x="122809" y="0"/>
                    <a:pt x="274320" y="0"/>
                  </a:cubicBezTo>
                  <a:cubicBezTo>
                    <a:pt x="425831" y="0"/>
                    <a:pt x="548640" y="122809"/>
                    <a:pt x="548640" y="274320"/>
                  </a:cubicBezTo>
                  <a:cubicBezTo>
                    <a:pt x="548640" y="425831"/>
                    <a:pt x="425831" y="548640"/>
                    <a:pt x="274320" y="548640"/>
                  </a:cubicBezTo>
                  <a:cubicBezTo>
                    <a:pt x="122809" y="548640"/>
                    <a:pt x="0" y="425831"/>
                    <a:pt x="0" y="274320"/>
                  </a:cubicBezTo>
                  <a:close/>
                </a:path>
              </a:pathLst>
            </a:custGeom>
            <a:solidFill>
              <a:srgbClr val="0D4D2B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5225796" y="5458968"/>
            <a:ext cx="246888" cy="246888"/>
            <a:chOff x="0" y="0"/>
            <a:chExt cx="329184" cy="329184"/>
          </a:xfrm>
        </p:grpSpPr>
        <p:sp>
          <p:nvSpPr>
            <p:cNvPr name="Freeform 63" id="63" descr="/home/claude/agroguard/icons/check.png"/>
            <p:cNvSpPr/>
            <p:nvPr/>
          </p:nvSpPr>
          <p:spPr>
            <a:xfrm flipH="false" flipV="false" rot="0">
              <a:off x="0" y="0"/>
              <a:ext cx="32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5719572" y="5308092"/>
            <a:ext cx="3909060" cy="548640"/>
            <a:chOff x="0" y="0"/>
            <a:chExt cx="52120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12080" cy="731520"/>
            </a:xfrm>
            <a:custGeom>
              <a:avLst/>
              <a:gdLst/>
              <a:ahLst/>
              <a:cxnLst/>
              <a:rect r="r" b="b" t="t" l="l"/>
              <a:pathLst>
                <a:path h="73152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830" r="0" b="-8883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52120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95"/>
                </a:lnSpc>
              </a:pPr>
              <a:r>
                <a:rPr lang="en-US" sz="1425">
                  <a:solidFill>
                    <a:srgbClr val="2026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Field visit loop: findings recorded, farmer notified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738360" y="3031236"/>
            <a:ext cx="6858000" cy="480060"/>
            <a:chOff x="0" y="0"/>
            <a:chExt cx="9144000" cy="6400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026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access</a:t>
              </a:r>
            </a:p>
          </p:txBody>
        </p:sp>
      </p:grpSp>
      <p:graphicFrame>
        <p:nvGraphicFramePr>
          <p:cNvPr name="Table 70" id="70"/>
          <p:cNvGraphicFramePr>
            <a:graphicFrameLocks noGrp="true"/>
          </p:cNvGraphicFramePr>
          <p:nvPr/>
        </p:nvGraphicFramePr>
        <p:xfrm>
          <a:off x="9738360" y="3579876"/>
          <a:ext cx="7658100" cy="3143250"/>
        </p:xfrm>
        <a:graphic>
          <a:graphicData uri="http://schemas.openxmlformats.org/drawingml/2006/table">
            <a:tbl>
              <a:tblPr/>
              <a:tblGrid>
                <a:gridCol w="3829050"/>
                <a:gridCol w="3829050"/>
              </a:tblGrid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2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Email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2B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Farmer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ruwan@farm.lk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Extension Officer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anura@agridept.gov.lk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Epidemiologist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kamal@res.lk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  <a:tr h="6286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Administrator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2026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admin@agroguard.gov.lk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CE3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2"/>
                    </a:solidFill>
                  </a:tcPr>
                </a:tc>
              </a:tr>
            </a:tbl>
          </a:graphicData>
        </a:graphic>
      </p:graphicFrame>
      <p:grpSp>
        <p:nvGrpSpPr>
          <p:cNvPr name="Group 71" id="71"/>
          <p:cNvGrpSpPr/>
          <p:nvPr/>
        </p:nvGrpSpPr>
        <p:grpSpPr>
          <a:xfrm rot="0">
            <a:off x="9738360" y="6940296"/>
            <a:ext cx="7680960" cy="411480"/>
            <a:chOff x="0" y="0"/>
            <a:chExt cx="1024128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241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0241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i="true">
                  <a:solidFill>
                    <a:srgbClr val="6D726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Password for every role: password123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85800" y="9710928"/>
            <a:ext cx="8229600" cy="411480"/>
            <a:chOff x="0" y="0"/>
            <a:chExt cx="109728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AgroGuard-AI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6915943" y="9710928"/>
            <a:ext cx="685800" cy="411480"/>
            <a:chOff x="0" y="0"/>
            <a:chExt cx="9144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D72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4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68580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728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JUDGEMENT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165860"/>
            <a:ext cx="16184880" cy="1234440"/>
            <a:chOff x="0" y="0"/>
            <a:chExt cx="2157984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79839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579839">
                  <a:moveTo>
                    <a:pt x="0" y="0"/>
                  </a:moveTo>
                  <a:lnTo>
                    <a:pt x="21579839" y="0"/>
                  </a:lnTo>
                  <a:lnTo>
                    <a:pt x="215798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470" r="0" b="-20547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57984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 achieved — and what's still ahead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82865" y="3452754"/>
            <a:ext cx="1337197" cy="0"/>
          </a:xfrm>
          <a:prstGeom prst="line">
            <a:avLst/>
          </a:prstGeom>
          <a:ln cap="rnd" w="28575">
            <a:solidFill>
              <a:srgbClr val="5C8A3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582995" y="3663267"/>
            <a:ext cx="5280660" cy="548640"/>
            <a:chOff x="0" y="0"/>
            <a:chExt cx="704088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0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7040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5C8A3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Achieved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97315" y="3889034"/>
            <a:ext cx="5280660" cy="4389120"/>
            <a:chOff x="0" y="0"/>
            <a:chExt cx="7040880" cy="5852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40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41" t="0" r="-56641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7040880" cy="593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10 problem-brief scenarios implemented end to end</a:t>
              </a:r>
            </a:p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Deterministic, explainable risk &amp; clustering — no black boxes</a:t>
              </a:r>
            </a:p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Runs zero-config, offline, with realistic seed data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275135" y="3663267"/>
            <a:ext cx="5280660" cy="548640"/>
            <a:chOff x="0" y="0"/>
            <a:chExt cx="704088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40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7040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D9A44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Known limitations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82717" y="3813288"/>
            <a:ext cx="5280660" cy="4389120"/>
            <a:chOff x="0" y="0"/>
            <a:chExt cx="7040880" cy="5852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40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41" t="0" r="-5664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7040880" cy="593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Vision diagnosis depends on an external Gemini API key</a:t>
              </a:r>
            </a:p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Validated against seed data, not yet a live farmer pilot</a:t>
              </a:r>
            </a:p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Voice input / read-aloud advice not yet built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67275" y="3663267"/>
            <a:ext cx="5280660" cy="548640"/>
            <a:chOff x="0" y="0"/>
            <a:chExt cx="704088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040880" cy="731520"/>
            </a:xfrm>
            <a:custGeom>
              <a:avLst/>
              <a:gdLst/>
              <a:ahLst/>
              <a:cxnLst/>
              <a:rect r="r" b="b" t="t" l="l"/>
              <a:pathLst>
                <a:path h="73152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04088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steps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668119" y="3813288"/>
            <a:ext cx="5280660" cy="4389120"/>
            <a:chOff x="0" y="0"/>
            <a:chExt cx="7040880" cy="5852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0880" cy="5852160"/>
            </a:xfrm>
            <a:custGeom>
              <a:avLst/>
              <a:gdLst/>
              <a:ahLst/>
              <a:cxnLst/>
              <a:rect r="r" b="b" t="t" l="l"/>
              <a:pathLst>
                <a:path h="5852160" w="7040880">
                  <a:moveTo>
                    <a:pt x="0" y="0"/>
                  </a:moveTo>
                  <a:lnTo>
                    <a:pt x="7040880" y="0"/>
                  </a:lnTo>
                  <a:lnTo>
                    <a:pt x="7040880" y="5852160"/>
                  </a:lnTo>
                  <a:lnTo>
                    <a:pt x="0" y="5852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6641" t="0" r="-56641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7040880" cy="59378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Voice input and read-aloud advice for non-typing farmers</a:t>
              </a:r>
            </a:p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beyond Sinhala, Tamil &amp; English</a:t>
              </a:r>
            </a:p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Pilot with a real Agricultural Extension office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3960">
            <a:off x="813425" y="8979218"/>
            <a:ext cx="16615420" cy="0"/>
          </a:xfrm>
          <a:prstGeom prst="line">
            <a:avLst/>
          </a:prstGeom>
          <a:ln cap="rnd" w="9525">
            <a:solidFill>
              <a:srgbClr val="092E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822960" y="9189720"/>
            <a:ext cx="8229600" cy="548640"/>
            <a:chOff x="0" y="0"/>
            <a:chExt cx="1097280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09728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i="true">
                  <a:solidFill>
                    <a:srgbClr val="C9DAB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Thank you — questions welcome.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0" y="9189720"/>
            <a:ext cx="7132320" cy="548640"/>
            <a:chOff x="0" y="0"/>
            <a:chExt cx="95097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509760" cy="731520"/>
            </a:xfrm>
            <a:custGeom>
              <a:avLst/>
              <a:gdLst/>
              <a:ahLst/>
              <a:cxnLst/>
              <a:rect r="r" b="b" t="t" l="l"/>
              <a:pathLst>
                <a:path h="7315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95097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80"/>
                </a:lnSpc>
              </a:pPr>
              <a:r>
                <a:rPr lang="en-US" sz="1650">
                  <a:solidFill>
                    <a:srgbClr val="8FA6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WeCodex  ·  poojaap356@gmail.com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1967275" y="3424193"/>
            <a:ext cx="1448151" cy="9525"/>
          </a:xfrm>
          <a:prstGeom prst="line">
            <a:avLst/>
          </a:prstGeom>
          <a:ln cap="rnd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flipV="true">
            <a:off x="6275135" y="3433718"/>
            <a:ext cx="2400300" cy="9525"/>
          </a:xfrm>
          <a:prstGeom prst="line">
            <a:avLst/>
          </a:prstGeom>
          <a:ln cap="rnd" w="19050">
            <a:solidFill>
              <a:srgbClr val="D9A44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702057" y="7002599"/>
            <a:ext cx="9134203" cy="1776549"/>
            <a:chOff x="0" y="0"/>
            <a:chExt cx="12178937" cy="23687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178937" cy="2368731"/>
            </a:xfrm>
            <a:custGeom>
              <a:avLst/>
              <a:gdLst/>
              <a:ahLst/>
              <a:cxnLst/>
              <a:rect r="r" b="b" t="t" l="l"/>
              <a:pathLst>
                <a:path h="2368731" w="12178937">
                  <a:moveTo>
                    <a:pt x="0" y="0"/>
                  </a:moveTo>
                  <a:lnTo>
                    <a:pt x="12178937" y="0"/>
                  </a:lnTo>
                  <a:lnTo>
                    <a:pt x="12178937" y="2368731"/>
                  </a:lnTo>
                  <a:lnTo>
                    <a:pt x="0" y="23687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745" t="0" r="9442" b="-1470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12178937" cy="2454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12182" indent="-156091" lvl="1">
                <a:lnSpc>
                  <a:spcPts val="2587"/>
                </a:lnSpc>
                <a:buFont typeface="Arial"/>
                <a:buChar char="•"/>
              </a:pPr>
              <a:r>
                <a:rPr lang="en-US" sz="1725">
                  <a:solidFill>
                    <a:srgbClr val="E4ECD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Repo Link: https://github.com/SarasiRajarathna/AgroGuard-AI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DAHU_db_VkM</dc:identifier>
  <dcterms:modified xsi:type="dcterms:W3CDTF">2011-08-01T06:04:30Z</dcterms:modified>
  <cp:revision>1</cp:revision>
  <dc:title>AgroGuard-AI_Pitch.pptx</dc:title>
</cp:coreProperties>
</file>