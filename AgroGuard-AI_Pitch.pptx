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9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88321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25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092E1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092E1B"/>
          </a:solidFill>
          <a:ln/>
        </p:spPr>
      </p:sp>
      <p:sp>
        <p:nvSpPr>
          <p:cNvPr id="4" name="Shape 2"/>
          <p:cNvSpPr/>
          <p:nvPr/>
        </p:nvSpPr>
        <p:spPr>
          <a:xfrm>
            <a:off x="10561320" y="-137160"/>
            <a:ext cx="1188720" cy="11887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5" name="Image 0" descr="/home/claude/agroguard/icons/lea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1371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CROP DISEASE EARLY-WARNING SYSTEM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228600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AgroGuard-AI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640080" y="3520440"/>
            <a:ext cx="8595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8E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sick plants from a photo, advise farmers in their language, and stop outbreaks spreading.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4434840"/>
            <a:ext cx="2926080" cy="0"/>
          </a:xfrm>
          <a:prstGeom prst="line">
            <a:avLst/>
          </a:prstGeom>
          <a:noFill/>
          <a:ln w="25400">
            <a:solidFill>
              <a:srgbClr val="5C8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4572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Artificial Intelligence Competition  ·  Crop Protection Track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CodeArena'26  ·  </a:t>
            </a:r>
            <a:r>
              <a:rPr lang="en-US" sz="1100" dirty="0" err="1" smtClean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WeCodeX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A8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6126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wait days while disease spreads unseen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lnSpc>
                <a:spcPct val="125000"/>
              </a:lnSpc>
              <a:buNone/>
            </a:pPr>
            <a:r>
              <a:rPr lang="en-US" sz="150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Farmers can wait days for an agriculture officer, and by then a disease may have already spread across the field and into neighbouring farms. Officers have no visibility into where an outbreak is starting until it is too late — and by that point, containment is much harder and far more costly.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6035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8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 closes that gap: diagnosis in seconds, advice in the farmer's own language, and regional visibility before an outbreak takes hold.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40880" y="96012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F6F7F2"/>
          </a:solidFill>
          <a:ln/>
        </p:spPr>
      </p:sp>
      <p:sp>
        <p:nvSpPr>
          <p:cNvPr id="7" name="Shape 5"/>
          <p:cNvSpPr/>
          <p:nvPr/>
        </p:nvSpPr>
        <p:spPr>
          <a:xfrm>
            <a:off x="7269480" y="1252728"/>
            <a:ext cx="822960" cy="82296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8" name="Image 0" descr="/home/claude/agroguard/icons/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648" y="1453896"/>
            <a:ext cx="420624" cy="4206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11430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response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75320" y="1527048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an officer arrives on-site, disease has already spread.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040880" y="2587752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F6F7F2"/>
          </a:solidFill>
          <a:ln/>
        </p:spPr>
      </p:sp>
      <p:sp>
        <p:nvSpPr>
          <p:cNvPr id="12" name="Shape 9"/>
          <p:cNvSpPr/>
          <p:nvPr/>
        </p:nvSpPr>
        <p:spPr>
          <a:xfrm>
            <a:off x="7269480" y="2880360"/>
            <a:ext cx="822960" cy="82296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3" name="Image 1" descr="/home/claude/agroguard/icons/net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308152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275320" y="27706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visibility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275320" y="31546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Outbreaks aren't visible to officers until multiple farms are affected.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040880" y="4215384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F6F7F2"/>
          </a:solidFill>
          <a:ln/>
        </p:spPr>
      </p:sp>
      <p:sp>
        <p:nvSpPr>
          <p:cNvPr id="17" name="Shape 13"/>
          <p:cNvSpPr/>
          <p:nvPr/>
        </p:nvSpPr>
        <p:spPr>
          <a:xfrm>
            <a:off x="7269480" y="4507992"/>
            <a:ext cx="822960" cy="82296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8" name="Image 2" descr="/home/claude/agroguard/icons/langu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0648" y="4709160"/>
            <a:ext cx="420624" cy="42062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75320" y="4398264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barriers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8275320" y="4782312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advice rarely reaches farmers in the language they work in.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A8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roles, one shared risk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actor in the containment loop has a distinct job — the platform is built around all four, not just the farmer.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578608"/>
            <a:ext cx="914400" cy="91440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7" name="Image 0" descr="/home/claude/agroguard/icons/seed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798064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51460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920240" y="29260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Uploads leaf photos and receives multilingual diagnosis and treatment advice.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17920" y="22860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11" name="Shape 8"/>
          <p:cNvSpPr/>
          <p:nvPr/>
        </p:nvSpPr>
        <p:spPr>
          <a:xfrm>
            <a:off x="6492240" y="2578608"/>
            <a:ext cx="914400" cy="91440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2" name="Image 1" descr="/home/claude/agroguard/icons/clip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1696" y="2798064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51460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 Officer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589520" y="292608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escalated cases, schedules and records field visits.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16" name="Shape 12"/>
          <p:cNvSpPr/>
          <p:nvPr/>
        </p:nvSpPr>
        <p:spPr>
          <a:xfrm>
            <a:off x="822960" y="4681728"/>
            <a:ext cx="914400" cy="91440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7" name="Image 2" descr="/home/claude/agroguard/icons/microsco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901184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920240" y="46177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Lab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920240" y="502920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samples of new or unclear diseases and exports surveillance data.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17920" y="43891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21" name="Shape 16"/>
          <p:cNvSpPr/>
          <p:nvPr/>
        </p:nvSpPr>
        <p:spPr>
          <a:xfrm>
            <a:off x="6492240" y="4681728"/>
            <a:ext cx="914400" cy="914400"/>
          </a:xfrm>
          <a:prstGeom prst="ellipse">
            <a:avLst/>
          </a:prstGeom>
          <a:solidFill>
            <a:srgbClr val="A83A2E"/>
          </a:solidFill>
          <a:ln/>
        </p:spPr>
      </p:sp>
      <p:pic>
        <p:nvPicPr>
          <p:cNvPr id="22" name="Image 3" descr="/home/claude/agroguard/icons/adm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1696" y="4901184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89520" y="461772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589520" y="502920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outbreak declarations and improves the diagnostic model.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WHAT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closed loop from photo to containment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6" name="Image 0" descr="/home/claude/agroguard/icons/seed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211226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67004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foliar diagnosis &amp; severity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9443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Vision-based disease ID with low / medium / high / critical severity and yield impact.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178808" y="1737360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10" name="Shape 7"/>
          <p:cNvSpPr/>
          <p:nvPr/>
        </p:nvSpPr>
        <p:spPr>
          <a:xfrm>
            <a:off x="4407408" y="1965960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1" name="Image 1" descr="/home/claude/agroguard/icons/langu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21122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07408" y="267004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advisories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407408" y="29443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and treatment guidance in English, Sinhala, and Tamil.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7808976" y="1737360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037576" y="1965960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6" name="Image 2" descr="/home/claude/agroguard/icons/weat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2112264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37576" y="2670048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micro-climate telemetry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037576" y="2944368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humidity, wind, rainfall and leaf-wetness pulled per farm GPS.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48640" y="3582209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20" name="Shape 15"/>
          <p:cNvSpPr/>
          <p:nvPr/>
        </p:nvSpPr>
        <p:spPr>
          <a:xfrm>
            <a:off x="777240" y="3810809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21" name="Image 3" descr="/home/claude/agroguard/icons/ri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544" y="3957113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514897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risk engine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77240" y="4789217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0–100 spread-risk index — no black-box confidence.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178808" y="3582209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25" name="Shape 19"/>
          <p:cNvSpPr/>
          <p:nvPr/>
        </p:nvSpPr>
        <p:spPr>
          <a:xfrm>
            <a:off x="4407408" y="3810809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26" name="Image 4" descr="/home/claude/agroguard/icons/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3712" y="3957113"/>
            <a:ext cx="347472" cy="34747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07408" y="4514897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clustering &amp; map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4407408" y="4789217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clustering surfaces active clusters on a live regional map.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7808976" y="3582209"/>
            <a:ext cx="3429000" cy="1645920"/>
          </a:xfrm>
          <a:prstGeom prst="roundRect">
            <a:avLst>
              <a:gd name="adj" fmla="val 4848"/>
            </a:avLst>
          </a:prstGeom>
          <a:solidFill>
            <a:srgbClr val="F6F7F2"/>
          </a:solidFill>
          <a:ln/>
        </p:spPr>
      </p:sp>
      <p:sp>
        <p:nvSpPr>
          <p:cNvPr id="30" name="Shape 23"/>
          <p:cNvSpPr/>
          <p:nvPr/>
        </p:nvSpPr>
        <p:spPr>
          <a:xfrm>
            <a:off x="8037576" y="3810809"/>
            <a:ext cx="640080" cy="64008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31" name="Image 5" descr="/home/claude/agroguard/icons/bel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80" y="3957113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037576" y="4514897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biosecurity alerts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8037576" y="4789217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outbreaks notify every registered farm within the containment zone.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0D4D2B"/>
          </a:solidFill>
          <a:ln/>
        </p:spPr>
      </p:sp>
      <p:sp>
        <p:nvSpPr>
          <p:cNvPr id="35" name="Text 27"/>
          <p:cNvSpPr/>
          <p:nvPr/>
        </p:nvSpPr>
        <p:spPr>
          <a:xfrm>
            <a:off x="868680" y="53492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photo-based foliar diagnosis for Sri Lankan &amp; tropical crops — not drone or soil sensing, and not a substitute for an officer's final sign-off on a confirmed outbreak.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5C8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layers, one containment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6F7F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6" name="Image 0" descr="/home/claude/agroguard/icons/netwo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860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/ OpenStreetMap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6F7F2"/>
          </a:solidFill>
          <a:ln/>
        </p:spPr>
      </p:sp>
      <p:sp>
        <p:nvSpPr>
          <p:cNvPr id="10" name="Shape 7"/>
          <p:cNvSpPr/>
          <p:nvPr/>
        </p:nvSpPr>
        <p:spPr>
          <a:xfrm>
            <a:off x="4617720" y="2103120"/>
            <a:ext cx="777240" cy="77724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1" name="Image 1" descr="/home/claude/agroguard/icons/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2860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17720" y="342900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+ rate limiting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(cases, farms, visits…)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38160" y="182880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6F7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412480" y="2103120"/>
            <a:ext cx="777240" cy="77724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16" name="Image 2" descr="/home/claude/agroguard/icons/satell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2860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2480" y="301752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AI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12480" y="3429000"/>
            <a:ext cx="2971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+ PlantVillage KB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live telemetry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Supabase schema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 in-memory fallback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49428" y="4892040"/>
            <a:ext cx="2514600" cy="594360"/>
          </a:xfrm>
          <a:prstGeom prst="roundRect">
            <a:avLst>
              <a:gd name="adj" fmla="val 49231"/>
            </a:avLst>
          </a:prstGeom>
          <a:solidFill>
            <a:srgbClr val="0D4D2B"/>
          </a:solidFill>
          <a:ln/>
        </p:spPr>
      </p:sp>
      <p:sp>
        <p:nvSpPr>
          <p:cNvPr id="20" name="Text 15"/>
          <p:cNvSpPr/>
          <p:nvPr/>
        </p:nvSpPr>
        <p:spPr>
          <a:xfrm>
            <a:off x="449428" y="48920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Photo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2964028" y="489204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3375508" y="4892040"/>
            <a:ext cx="2514600" cy="594360"/>
          </a:xfrm>
          <a:prstGeom prst="roundRect">
            <a:avLst>
              <a:gd name="adj" fmla="val 49231"/>
            </a:avLst>
          </a:prstGeom>
          <a:solidFill>
            <a:srgbClr val="0D4D2B"/>
          </a:solidFill>
          <a:ln/>
        </p:spPr>
      </p:sp>
      <p:sp>
        <p:nvSpPr>
          <p:cNvPr id="23" name="Text 18"/>
          <p:cNvSpPr/>
          <p:nvPr/>
        </p:nvSpPr>
        <p:spPr>
          <a:xfrm>
            <a:off x="3375508" y="48920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+ Weather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890108" y="489204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301588" y="4892040"/>
            <a:ext cx="2514600" cy="594360"/>
          </a:xfrm>
          <a:prstGeom prst="roundRect">
            <a:avLst>
              <a:gd name="adj" fmla="val 49231"/>
            </a:avLst>
          </a:prstGeom>
          <a:solidFill>
            <a:srgbClr val="0D4D2B"/>
          </a:solidFill>
          <a:ln/>
        </p:spPr>
      </p:sp>
      <p:sp>
        <p:nvSpPr>
          <p:cNvPr id="26" name="Text 21"/>
          <p:cNvSpPr/>
          <p:nvPr/>
        </p:nvSpPr>
        <p:spPr>
          <a:xfrm>
            <a:off x="6301588" y="48920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Engine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8816188" y="4892040"/>
            <a:ext cx="411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227668" y="4892040"/>
            <a:ext cx="2514600" cy="594360"/>
          </a:xfrm>
          <a:prstGeom prst="roundRect">
            <a:avLst>
              <a:gd name="adj" fmla="val 49231"/>
            </a:avLst>
          </a:prstGeom>
          <a:solidFill>
            <a:srgbClr val="0D4D2B"/>
          </a:solidFill>
          <a:ln/>
        </p:spPr>
      </p:sp>
      <p:sp>
        <p:nvSpPr>
          <p:cNvPr id="29" name="Text 24"/>
          <p:cNvSpPr/>
          <p:nvPr/>
        </p:nvSpPr>
        <p:spPr>
          <a:xfrm>
            <a:off x="9227668" y="4892040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Alerts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5C8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that make it trustworthy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057400"/>
            <a:ext cx="822960" cy="822960"/>
          </a:xfrm>
          <a:prstGeom prst="ellipse">
            <a:avLst/>
          </a:prstGeom>
          <a:solidFill>
            <a:srgbClr val="A83A2E"/>
          </a:solidFill>
          <a:ln/>
        </p:spPr>
      </p:sp>
      <p:pic>
        <p:nvPicPr>
          <p:cNvPr id="6" name="Image 0" descr="/home/claude/agroguard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2585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98424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confidence triage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828800" y="2368296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≥90% confidence gives a full diagnosis; &lt;75% suppresses speculative treatment and auto-escalates to the local officer — no guessing.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10" name="Shape 7"/>
          <p:cNvSpPr/>
          <p:nvPr/>
        </p:nvSpPr>
        <p:spPr>
          <a:xfrm>
            <a:off x="6473952" y="2057400"/>
            <a:ext cx="822960" cy="82296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1" name="Image 1" descr="/home/claude/agroguard/icons/ris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25856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198424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risk engine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7498080" y="2368296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Spread-risk index (0–100) is a transparent, explainable formula — severity + leaf wetness + micro-climate + nearby cases.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15" name="Shape 11"/>
          <p:cNvSpPr/>
          <p:nvPr/>
        </p:nvSpPr>
        <p:spPr>
          <a:xfrm>
            <a:off x="804672" y="4160520"/>
            <a:ext cx="822960" cy="82296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6" name="Image 2" descr="/home/claude/agroguard/icons/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361688"/>
            <a:ext cx="420624" cy="42062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0873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outbreak clustering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828800" y="4471416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cases within 10km are grouped by pathogen; ≥3 cases in a radius forms a declared cluster with a real centroid.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17920" y="388620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6F7F2"/>
          </a:solidFill>
          <a:ln/>
        </p:spPr>
      </p:sp>
      <p:sp>
        <p:nvSpPr>
          <p:cNvPr id="20" name="Shape 15"/>
          <p:cNvSpPr/>
          <p:nvPr/>
        </p:nvSpPr>
        <p:spPr>
          <a:xfrm>
            <a:off x="6473952" y="4160520"/>
            <a:ext cx="822960" cy="822960"/>
          </a:xfrm>
          <a:prstGeom prst="ellipse">
            <a:avLst/>
          </a:prstGeom>
          <a:solidFill>
            <a:srgbClr val="D9A441"/>
          </a:solidFill>
          <a:ln/>
        </p:spPr>
      </p:sp>
      <p:pic>
        <p:nvPicPr>
          <p:cNvPr id="21" name="Image 3" descr="/home/claude/agroguard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4361688"/>
            <a:ext cx="420624" cy="42062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0" y="40873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persistence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498080" y="4471416"/>
            <a:ext cx="3840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zero-config on an in-memory store with realistic seed data, or against PostgreSQL / Supabase in production.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HOW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end, exactly as briefed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“must work end to end” requirement from the problem brief, mapped to a working step.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35024" y="21488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6" name="Text 4"/>
          <p:cNvSpPr/>
          <p:nvPr/>
        </p:nvSpPr>
        <p:spPr>
          <a:xfrm>
            <a:off x="1335024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92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926080"/>
            <a:ext cx="2029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&amp; diagnose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20299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 uploads leaf photos and gets a diagnosis in Sinhala, Tamil, or English.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624328" y="2468880"/>
            <a:ext cx="45720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547872" y="21488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92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852928" y="2926080"/>
            <a:ext cx="2029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code vs.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52928" y="3474720"/>
            <a:ext cx="20299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and outbreak checks run as deterministic code; only image and severity use AI.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837176" y="2468880"/>
            <a:ext cx="45720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760720" y="21488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16" name="Text 14"/>
          <p:cNvSpPr/>
          <p:nvPr/>
        </p:nvSpPr>
        <p:spPr>
          <a:xfrm>
            <a:off x="5760720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92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65776" y="2926080"/>
            <a:ext cx="2029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Escalate, don't guess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65776" y="3474720"/>
            <a:ext cx="20299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Low-confidence diagnoses skip the guess and route straight to an officer.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050024" y="2468880"/>
            <a:ext cx="45720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973568" y="21488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21" name="Text 19"/>
          <p:cNvSpPr/>
          <p:nvPr/>
        </p:nvSpPr>
        <p:spPr>
          <a:xfrm>
            <a:off x="7973568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92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78624" y="2926080"/>
            <a:ext cx="2029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&amp; map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278624" y="3474720"/>
            <a:ext cx="20299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clusters appear on the regional map and alert every farm at risk.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262872" y="2468880"/>
            <a:ext cx="457200" cy="0"/>
          </a:xfrm>
          <a:prstGeom prst="line">
            <a:avLst/>
          </a:prstGeom>
          <a:noFill/>
          <a:ln w="19050">
            <a:solidFill>
              <a:srgbClr val="D9A44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0186416" y="2148840"/>
            <a:ext cx="640080" cy="64008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26" name="Text 24"/>
          <p:cNvSpPr/>
          <p:nvPr/>
        </p:nvSpPr>
        <p:spPr>
          <a:xfrm>
            <a:off x="10186416" y="2148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92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491472" y="2926080"/>
            <a:ext cx="20299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491472" y="3474720"/>
            <a:ext cx="2029968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050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officer's field visit updates the case, and the farmer is notified.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each box below for a screenshot from the live system.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857500" y="2286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7" name="Image 0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24688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Farmer: New Case &amp; Diagnosis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965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526780" y="2286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1" name="Image 1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2468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3154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Diagnosis Result (multilingual)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251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2857500" y="4572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5" name="Image 2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4754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5440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Officer: Field Visit Review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17920" y="4251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8" name="Shape 13"/>
          <p:cNvSpPr/>
          <p:nvPr/>
        </p:nvSpPr>
        <p:spPr>
          <a:xfrm>
            <a:off x="8526780" y="4572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9" name="Image 3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75488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492240" y="5440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Regional Outbreak Map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running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each box below for a screenshot from the live system.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857500" y="2286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7" name="Image 0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24688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154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Farmer: New Case &amp; Diagnosis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965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526780" y="2286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1" name="Image 1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24688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92240" y="3154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Diagnosis Result (multilingual)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251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2857500" y="4572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5" name="Image 2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4754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2960" y="5440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Officer: Field Visit Review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217920" y="4251960"/>
            <a:ext cx="5349240" cy="1965960"/>
          </a:xfrm>
          <a:prstGeom prst="roundRect">
            <a:avLst>
              <a:gd name="adj" fmla="val 2791"/>
            </a:avLst>
          </a:prstGeom>
          <a:solidFill>
            <a:srgbClr val="F6F7F2"/>
          </a:solidFill>
          <a:ln w="15875">
            <a:solidFill>
              <a:srgbClr val="B9C4AE"/>
            </a:solidFill>
            <a:prstDash val="dash"/>
          </a:ln>
        </p:spPr>
      </p:sp>
      <p:sp>
        <p:nvSpPr>
          <p:cNvPr id="18" name="Shape 13"/>
          <p:cNvSpPr/>
          <p:nvPr/>
        </p:nvSpPr>
        <p:spPr>
          <a:xfrm>
            <a:off x="8526780" y="4572000"/>
            <a:ext cx="731520" cy="731520"/>
          </a:xfrm>
          <a:prstGeom prst="ellipse">
            <a:avLst/>
          </a:prstGeom>
          <a:solidFill>
            <a:srgbClr val="5C8A3A"/>
          </a:solidFill>
          <a:ln/>
        </p:spPr>
      </p:sp>
      <p:pic>
        <p:nvPicPr>
          <p:cNvPr id="19" name="Image 3" descr="/home/claude/agroguard/icons/cam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75488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492240" y="5440680"/>
            <a:ext cx="4800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— Regional Outbreak Map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8920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against the brief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20824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 — backend/test-api.js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32304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6" name="Image 0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487168"/>
            <a:ext cx="164592" cy="1645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238658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authentication &amp; JWT issuance for all 4 roles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2816352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9" name="Image 1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871216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32688" y="277063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farms with valid Sri Lankan GPS coordinates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548640" y="3200400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2" name="Image 2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255264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32688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diagnosis — English, Sinhala, Tamil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48640" y="3584448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5" name="Image 3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39312"/>
            <a:ext cx="164592" cy="1645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32688" y="353872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triage: &lt;75% escalates without a guess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3429000" y="2432304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18" name="Image 4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487168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813048" y="2386584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 telemetry from Open-Meteo per farm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3429000" y="2816352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21" name="Image 5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2871216"/>
            <a:ext cx="164592" cy="16459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3813048" y="2770632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clustering — 10km radius, min. 3 cases</a:t>
            </a:r>
            <a:endParaRPr lang="en-US" sz="950" dirty="0"/>
          </a:p>
        </p:txBody>
      </p:sp>
      <p:sp>
        <p:nvSpPr>
          <p:cNvPr id="23" name="Shape 15"/>
          <p:cNvSpPr/>
          <p:nvPr/>
        </p:nvSpPr>
        <p:spPr>
          <a:xfrm>
            <a:off x="3429000" y="3200400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24" name="Image 6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255264"/>
            <a:ext cx="164592" cy="16459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813048" y="315468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outbreak auto-alerts nearby farms</a:t>
            </a:r>
            <a:endParaRPr lang="en-US" sz="950" dirty="0"/>
          </a:p>
        </p:txBody>
      </p:sp>
      <p:sp>
        <p:nvSpPr>
          <p:cNvPr id="26" name="Shape 17"/>
          <p:cNvSpPr/>
          <p:nvPr/>
        </p:nvSpPr>
        <p:spPr>
          <a:xfrm>
            <a:off x="3429000" y="3584448"/>
            <a:ext cx="274320" cy="274320"/>
          </a:xfrm>
          <a:prstGeom prst="ellipse">
            <a:avLst/>
          </a:prstGeom>
          <a:solidFill>
            <a:srgbClr val="0D4D2B"/>
          </a:solidFill>
          <a:ln/>
        </p:spPr>
      </p:sp>
      <p:pic>
        <p:nvPicPr>
          <p:cNvPr id="27" name="Image 7" descr="/home/claude/agroguard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639312"/>
            <a:ext cx="164592" cy="16459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3813048" y="353872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visit loop: findings recorded, farmer notified</a:t>
            </a:r>
            <a:endParaRPr lang="en-US" sz="950" dirty="0"/>
          </a:p>
        </p:txBody>
      </p:sp>
      <p:sp>
        <p:nvSpPr>
          <p:cNvPr id="29" name="Text 19"/>
          <p:cNvSpPr/>
          <p:nvPr/>
        </p:nvSpPr>
        <p:spPr>
          <a:xfrm>
            <a:off x="6492240" y="202082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access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962928"/>
              </p:ext>
            </p:extLst>
          </p:nvPr>
        </p:nvGraphicFramePr>
        <p:xfrm>
          <a:off x="6492240" y="2386584"/>
          <a:ext cx="5120640" cy="210312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D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4D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ruwan@farm.lk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Extension Officer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anura@agridept.gov.lk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Epidemiologist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kamal@res.lk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0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admin@agroguard.gov.lk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2"/>
                    </a:solidFill>
                  </a:tcPr>
                </a:tc>
              </a:tr>
            </a:tbl>
          </a:graphicData>
        </a:graphic>
      </p:graphicFrame>
      <p:sp>
        <p:nvSpPr>
          <p:cNvPr id="31" name="Text 20"/>
          <p:cNvSpPr/>
          <p:nvPr/>
        </p:nvSpPr>
        <p:spPr>
          <a:xfrm>
            <a:off x="6492240" y="462686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for every role: password123</a:t>
            </a:r>
            <a:endParaRPr lang="en-US" sz="1000" dirty="0"/>
          </a:p>
        </p:txBody>
      </p:sp>
      <p:sp>
        <p:nvSpPr>
          <p:cNvPr id="32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AgroGuard-AI</a:t>
            </a:r>
            <a:endParaRPr lang="en-US" sz="900" dirty="0"/>
          </a:p>
        </p:txBody>
      </p:sp>
      <p:sp>
        <p:nvSpPr>
          <p:cNvPr id="33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D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4D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JUDGEMENT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achieved — and what's still ahead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02920" cy="0"/>
          </a:xfrm>
          <a:prstGeom prst="line">
            <a:avLst/>
          </a:prstGeom>
          <a:noFill/>
          <a:ln w="31750">
            <a:solidFill>
              <a:srgbClr val="5C8A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C8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46888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problem-brief scenarios implemented end to end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explainable risk &amp; clustering — no black boxes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zero-config, offline, with realistic seed data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3400" y="1874520"/>
            <a:ext cx="502920" cy="0"/>
          </a:xfrm>
          <a:prstGeom prst="line">
            <a:avLst/>
          </a:prstGeom>
          <a:noFill/>
          <a:ln w="31750">
            <a:solidFill>
              <a:srgbClr val="D9A4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20116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43400" y="246888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diagnosis depends on an external Gemini API key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seed data, not yet a live farmer pilot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/ read-aloud advice not yet built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38160" y="1874520"/>
            <a:ext cx="502920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20116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38160" y="2468880"/>
            <a:ext cx="3520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and read-aloud advice for non-typing farmers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beyond Sinhala, Tamil &amp; English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E4EC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a real Agricultural Extension office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5989320"/>
            <a:ext cx="11064240" cy="0"/>
          </a:xfrm>
          <a:prstGeom prst="line">
            <a:avLst/>
          </a:prstGeom>
          <a:noFill/>
          <a:ln w="12700">
            <a:solidFill>
              <a:srgbClr val="092E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9D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6126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 smtClean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100" dirty="0" err="1" smtClean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WeCodex</a:t>
            </a:r>
            <a:r>
              <a:rPr lang="en-US" sz="1100" dirty="0" smtClean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00" dirty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r>
              <a:rPr lang="en-US" sz="1100" dirty="0" smtClean="0">
                <a:solidFill>
                  <a:srgbClr val="8FA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poojaap356@gmail.com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1019</Words>
  <Application>Microsoft Office PowerPoint</Application>
  <PresentationFormat>Widescreen</PresentationFormat>
  <Paragraphs>175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Pooja</cp:lastModifiedBy>
  <cp:revision>3</cp:revision>
  <dcterms:created xsi:type="dcterms:W3CDTF">2026-09-12T08:52:38Z</dcterms:created>
  <dcterms:modified xsi:type="dcterms:W3CDTF">2026-09-12T12:12:01Z</dcterms:modified>
</cp:coreProperties>
</file>